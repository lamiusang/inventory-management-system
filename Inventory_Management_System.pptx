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16BE70-0E7B-4F76-9B9A-339FBF9AAFBE}" v="7" dt="2026-04-25T07:24:56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6928" autoAdjust="0"/>
  </p:normalViewPr>
  <p:slideViewPr>
    <p:cSldViewPr snapToGrid="0" snapToObjects="1">
      <p:cViewPr varScale="1">
        <p:scale>
          <a:sx n="74" d="100"/>
          <a:sy n="74" d="100"/>
        </p:scale>
        <p:origin x="199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mide Adeboye" userId="9e787034137b2853" providerId="LiveId" clId="{7D6CD3DA-39E8-4DBC-AE6D-988E01832CC9}"/>
    <pc:docChg chg="undo redo custSel addSld delSld modSld">
      <pc:chgData name="Olamide Adeboye" userId="9e787034137b2853" providerId="LiveId" clId="{7D6CD3DA-39E8-4DBC-AE6D-988E01832CC9}" dt="2026-04-25T07:25:54.200" v="561" actId="108"/>
      <pc:docMkLst>
        <pc:docMk/>
      </pc:docMkLst>
      <pc:sldChg chg="addSp delSp modSp mod">
        <pc:chgData name="Olamide Adeboye" userId="9e787034137b2853" providerId="LiveId" clId="{7D6CD3DA-39E8-4DBC-AE6D-988E01832CC9}" dt="2026-04-24T20:24:00.643" v="158" actId="1076"/>
        <pc:sldMkLst>
          <pc:docMk/>
          <pc:sldMk cId="0" sldId="262"/>
        </pc:sldMkLst>
        <pc:spChg chg="mod">
          <ac:chgData name="Olamide Adeboye" userId="9e787034137b2853" providerId="LiveId" clId="{7D6CD3DA-39E8-4DBC-AE6D-988E01832CC9}" dt="2026-04-24T20:24:00.643" v="158" actId="1076"/>
          <ac:spMkLst>
            <pc:docMk/>
            <pc:sldMk cId="0" sldId="262"/>
            <ac:spMk id="2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22:14.857" v="144" actId="478"/>
          <ac:spMkLst>
            <pc:docMk/>
            <pc:sldMk cId="0" sldId="262"/>
            <ac:spMk id="9" creationId="{00000000-0000-0000-0000-000000000000}"/>
          </ac:spMkLst>
        </pc:spChg>
        <pc:spChg chg="add del">
          <ac:chgData name="Olamide Adeboye" userId="9e787034137b2853" providerId="LiveId" clId="{7D6CD3DA-39E8-4DBC-AE6D-988E01832CC9}" dt="2026-04-24T20:22:29.111" v="14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22:12.722" v="143" actId="478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amide Adeboye" userId="9e787034137b2853" providerId="LiveId" clId="{7D6CD3DA-39E8-4DBC-AE6D-988E01832CC9}" dt="2026-04-24T20:22:06.091" v="142" actId="164"/>
          <ac:spMkLst>
            <pc:docMk/>
            <pc:sldMk cId="0" sldId="262"/>
            <ac:spMk id="13" creationId="{00000000-0000-0000-0000-000000000000}"/>
          </ac:spMkLst>
        </pc:spChg>
        <pc:spChg chg="mod ord">
          <ac:chgData name="Olamide Adeboye" userId="9e787034137b2853" providerId="LiveId" clId="{7D6CD3DA-39E8-4DBC-AE6D-988E01832CC9}" dt="2026-04-24T20:23:12.648" v="152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amide Adeboye" userId="9e787034137b2853" providerId="LiveId" clId="{7D6CD3DA-39E8-4DBC-AE6D-988E01832CC9}" dt="2026-04-24T20:22:06.091" v="142" actId="164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amide Adeboye" userId="9e787034137b2853" providerId="LiveId" clId="{7D6CD3DA-39E8-4DBC-AE6D-988E01832CC9}" dt="2026-04-24T20:23:45.410" v="157" actId="1076"/>
          <ac:spMkLst>
            <pc:docMk/>
            <pc:sldMk cId="0" sldId="262"/>
            <ac:spMk id="17" creationId="{00000000-0000-0000-0000-000000000000}"/>
          </ac:spMkLst>
        </pc:spChg>
        <pc:grpChg chg="add del mod">
          <ac:chgData name="Olamide Adeboye" userId="9e787034137b2853" providerId="LiveId" clId="{7D6CD3DA-39E8-4DBC-AE6D-988E01832CC9}" dt="2026-04-24T20:23:12.648" v="152" actId="164"/>
          <ac:grpSpMkLst>
            <pc:docMk/>
            <pc:sldMk cId="0" sldId="262"/>
            <ac:grpSpMk id="24" creationId="{3A046D46-9C8F-B8E3-0F4E-1BAD0A167360}"/>
          </ac:grpSpMkLst>
        </pc:grpChg>
        <pc:grpChg chg="add mod">
          <ac:chgData name="Olamide Adeboye" userId="9e787034137b2853" providerId="LiveId" clId="{7D6CD3DA-39E8-4DBC-AE6D-988E01832CC9}" dt="2026-04-24T20:23:38.545" v="156" actId="1076"/>
          <ac:grpSpMkLst>
            <pc:docMk/>
            <pc:sldMk cId="0" sldId="262"/>
            <ac:grpSpMk id="25" creationId="{868B5EE4-B59D-A5E0-2ACA-501E037C50EA}"/>
          </ac:grpSpMkLst>
        </pc:grpChg>
        <pc:cxnChg chg="del">
          <ac:chgData name="Olamide Adeboye" userId="9e787034137b2853" providerId="LiveId" clId="{7D6CD3DA-39E8-4DBC-AE6D-988E01832CC9}" dt="2026-04-24T20:23:26.224" v="155" actId="478"/>
          <ac:cxnSpMkLst>
            <pc:docMk/>
            <pc:sldMk cId="0" sldId="262"/>
            <ac:cxnSpMk id="16" creationId="{00000000-0000-0000-0000-000000000000}"/>
          </ac:cxnSpMkLst>
        </pc:cxnChg>
      </pc:sldChg>
      <pc:sldChg chg="mod modShow">
        <pc:chgData name="Olamide Adeboye" userId="9e787034137b2853" providerId="LiveId" clId="{7D6CD3DA-39E8-4DBC-AE6D-988E01832CC9}" dt="2026-04-24T20:41:53.860" v="402" actId="34476"/>
        <pc:sldMkLst>
          <pc:docMk/>
          <pc:sldMk cId="0" sldId="266"/>
        </pc:sldMkLst>
      </pc:sldChg>
      <pc:sldChg chg="modSp mod modNotesTx">
        <pc:chgData name="Olamide Adeboye" userId="9e787034137b2853" providerId="LiveId" clId="{7D6CD3DA-39E8-4DBC-AE6D-988E01832CC9}" dt="2026-04-25T07:25:54.200" v="561" actId="108"/>
        <pc:sldMkLst>
          <pc:docMk/>
          <pc:sldMk cId="0" sldId="269"/>
        </pc:sldMkLst>
        <pc:spChg chg="mod">
          <ac:chgData name="Olamide Adeboye" userId="9e787034137b2853" providerId="LiveId" clId="{7D6CD3DA-39E8-4DBC-AE6D-988E01832CC9}" dt="2026-04-25T07:25:54.200" v="561" actId="108"/>
          <ac:spMkLst>
            <pc:docMk/>
            <pc:sldMk cId="0" sldId="269"/>
            <ac:spMk id="7" creationId="{00000000-0000-0000-0000-000000000000}"/>
          </ac:spMkLst>
        </pc:spChg>
        <pc:spChg chg="mod">
          <ac:chgData name="Olamide Adeboye" userId="9e787034137b2853" providerId="LiveId" clId="{7D6CD3DA-39E8-4DBC-AE6D-988E01832CC9}" dt="2026-04-24T20:42:34.298" v="403" actId="20577"/>
          <ac:spMkLst>
            <pc:docMk/>
            <pc:sldMk cId="0" sldId="269"/>
            <ac:spMk id="9" creationId="{00000000-0000-0000-0000-000000000000}"/>
          </ac:spMkLst>
        </pc:spChg>
        <pc:spChg chg="mod">
          <ac:chgData name="Olamide Adeboye" userId="9e787034137b2853" providerId="LiveId" clId="{7D6CD3DA-39E8-4DBC-AE6D-988E01832CC9}" dt="2026-04-24T20:28:15.429" v="162" actId="20577"/>
          <ac:spMkLst>
            <pc:docMk/>
            <pc:sldMk cId="0" sldId="269"/>
            <ac:spMk id="12" creationId="{00000000-0000-0000-0000-000000000000}"/>
          </ac:spMkLst>
        </pc:spChg>
      </pc:sldChg>
      <pc:sldChg chg="addSp delSp modSp add del mod modNotesTx">
        <pc:chgData name="Olamide Adeboye" userId="9e787034137b2853" providerId="LiveId" clId="{7D6CD3DA-39E8-4DBC-AE6D-988E01832CC9}" dt="2026-04-24T20:20:37.552" v="141" actId="2696"/>
        <pc:sldMkLst>
          <pc:docMk/>
          <pc:sldMk cId="0" sldId="272"/>
        </pc:sldMkLst>
        <pc:spChg chg="del mod">
          <ac:chgData name="Olamide Adeboye" userId="9e787034137b2853" providerId="LiveId" clId="{7D6CD3DA-39E8-4DBC-AE6D-988E01832CC9}" dt="2026-04-24T20:11:42.768" v="107" actId="478"/>
          <ac:spMkLst>
            <pc:docMk/>
            <pc:sldMk cId="0" sldId="272"/>
            <ac:spMk id="2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0:46.624" v="97" actId="478"/>
          <ac:spMkLst>
            <pc:docMk/>
            <pc:sldMk cId="0" sldId="272"/>
            <ac:spMk id="6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7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8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9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0:51.898" v="99" actId="478"/>
          <ac:spMkLst>
            <pc:docMk/>
            <pc:sldMk cId="0" sldId="272"/>
            <ac:spMk id="10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11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0:49.380" v="98" actId="478"/>
          <ac:spMkLst>
            <pc:docMk/>
            <pc:sldMk cId="0" sldId="272"/>
            <ac:spMk id="12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14" creationId="{00000000-0000-0000-0000-000000000000}"/>
          </ac:spMkLst>
        </pc:spChg>
        <pc:spChg chg="add del mod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15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9.057" v="117" actId="478"/>
          <ac:spMkLst>
            <pc:docMk/>
            <pc:sldMk cId="0" sldId="272"/>
            <ac:spMk id="16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8.071" v="116" actId="478"/>
          <ac:spMkLst>
            <pc:docMk/>
            <pc:sldMk cId="0" sldId="272"/>
            <ac:spMk id="17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6.983" v="115" actId="478"/>
          <ac:spMkLst>
            <pc:docMk/>
            <pc:sldMk cId="0" sldId="272"/>
            <ac:spMk id="18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5.727" v="114" actId="478"/>
          <ac:spMkLst>
            <pc:docMk/>
            <pc:sldMk cId="0" sldId="272"/>
            <ac:spMk id="19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30.600" v="119" actId="478"/>
          <ac:spMkLst>
            <pc:docMk/>
            <pc:sldMk cId="0" sldId="272"/>
            <ac:spMk id="20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2:34.232" v="121" actId="478"/>
          <ac:spMkLst>
            <pc:docMk/>
            <pc:sldMk cId="0" sldId="272"/>
            <ac:spMk id="21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2:57.318" v="125" actId="478"/>
          <ac:spMkLst>
            <pc:docMk/>
            <pc:sldMk cId="0" sldId="272"/>
            <ac:spMk id="23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2:30.600" v="119" actId="478"/>
          <ac:spMkLst>
            <pc:docMk/>
            <pc:sldMk cId="0" sldId="272"/>
            <ac:spMk id="24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04.047" v="110" actId="478"/>
          <ac:spMkLst>
            <pc:docMk/>
            <pc:sldMk cId="0" sldId="272"/>
            <ac:spMk id="25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26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27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28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0.126" v="108" actId="478"/>
          <ac:spMkLst>
            <pc:docMk/>
            <pc:sldMk cId="0" sldId="272"/>
            <ac:spMk id="29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30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32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33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1.409" v="111" actId="478"/>
          <ac:spMkLst>
            <pc:docMk/>
            <pc:sldMk cId="0" sldId="272"/>
            <ac:spMk id="34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3.906" v="113" actId="478"/>
          <ac:spMkLst>
            <pc:docMk/>
            <pc:sldMk cId="0" sldId="272"/>
            <ac:spMk id="35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12.931" v="112" actId="478"/>
          <ac:spMkLst>
            <pc:docMk/>
            <pc:sldMk cId="0" sldId="272"/>
            <ac:spMk id="37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38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39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41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1:57.213" v="109" actId="478"/>
          <ac:spMkLst>
            <pc:docMk/>
            <pc:sldMk cId="0" sldId="272"/>
            <ac:spMk id="42" creationId="{00000000-0000-0000-0000-000000000000}"/>
          </ac:spMkLst>
        </pc:spChg>
        <pc:spChg chg="del mod">
          <ac:chgData name="Olamide Adeboye" userId="9e787034137b2853" providerId="LiveId" clId="{7D6CD3DA-39E8-4DBC-AE6D-988E01832CC9}" dt="2026-04-24T20:12:54.369" v="124" actId="478"/>
          <ac:spMkLst>
            <pc:docMk/>
            <pc:sldMk cId="0" sldId="272"/>
            <ac:spMk id="48" creationId="{00000000-0000-0000-0000-000000000000}"/>
          </ac:spMkLst>
        </pc:spChg>
        <pc:spChg chg="del">
          <ac:chgData name="Olamide Adeboye" userId="9e787034137b2853" providerId="LiveId" clId="{7D6CD3DA-39E8-4DBC-AE6D-988E01832CC9}" dt="2026-04-24T20:12:44.655" v="122" actId="478"/>
          <ac:spMkLst>
            <pc:docMk/>
            <pc:sldMk cId="0" sldId="272"/>
            <ac:spMk id="49" creationId="{00000000-0000-0000-0000-000000000000}"/>
          </ac:spMkLst>
        </pc:spChg>
        <pc:picChg chg="add mod">
          <ac:chgData name="Olamide Adeboye" userId="9e787034137b2853" providerId="LiveId" clId="{7D6CD3DA-39E8-4DBC-AE6D-988E01832CC9}" dt="2026-04-24T20:14:23.485" v="131" actId="1076"/>
          <ac:picMkLst>
            <pc:docMk/>
            <pc:sldMk cId="0" sldId="272"/>
            <ac:picMk id="52" creationId="{5A3AB45E-495D-7AA4-CA25-5E33D8945E8A}"/>
          </ac:picMkLst>
        </pc:picChg>
        <pc:cxnChg chg="del mod">
          <ac:chgData name="Olamide Adeboye" userId="9e787034137b2853" providerId="LiveId" clId="{7D6CD3DA-39E8-4DBC-AE6D-988E01832CC9}" dt="2026-04-24T20:11:50.126" v="108" actId="478"/>
          <ac:cxnSpMkLst>
            <pc:docMk/>
            <pc:sldMk cId="0" sldId="272"/>
            <ac:cxnSpMk id="13" creationId="{00000000-0000-0000-0000-000000000000}"/>
          </ac:cxnSpMkLst>
        </pc:cxnChg>
        <pc:cxnChg chg="del">
          <ac:chgData name="Olamide Adeboye" userId="9e787034137b2853" providerId="LiveId" clId="{7D6CD3DA-39E8-4DBC-AE6D-988E01832CC9}" dt="2026-04-24T20:12:30.600" v="119" actId="478"/>
          <ac:cxnSpMkLst>
            <pc:docMk/>
            <pc:sldMk cId="0" sldId="272"/>
            <ac:cxnSpMk id="22" creationId="{00000000-0000-0000-0000-000000000000}"/>
          </ac:cxnSpMkLst>
        </pc:cxnChg>
        <pc:cxnChg chg="del">
          <ac:chgData name="Olamide Adeboye" userId="9e787034137b2853" providerId="LiveId" clId="{7D6CD3DA-39E8-4DBC-AE6D-988E01832CC9}" dt="2026-04-24T20:11:50.126" v="108" actId="478"/>
          <ac:cxnSpMkLst>
            <pc:docMk/>
            <pc:sldMk cId="0" sldId="272"/>
            <ac:cxnSpMk id="31" creationId="{00000000-0000-0000-0000-000000000000}"/>
          </ac:cxnSpMkLst>
        </pc:cxnChg>
        <pc:cxnChg chg="mod">
          <ac:chgData name="Olamide Adeboye" userId="9e787034137b2853" providerId="LiveId" clId="{7D6CD3DA-39E8-4DBC-AE6D-988E01832CC9}" dt="2026-04-24T17:51:56.347" v="93" actId="1035"/>
          <ac:cxnSpMkLst>
            <pc:docMk/>
            <pc:sldMk cId="0" sldId="272"/>
            <ac:cxnSpMk id="43" creationId="{00000000-0000-0000-0000-000000000000}"/>
          </ac:cxnSpMkLst>
        </pc:cxnChg>
        <pc:cxnChg chg="mod">
          <ac:chgData name="Olamide Adeboye" userId="9e787034137b2853" providerId="LiveId" clId="{7D6CD3DA-39E8-4DBC-AE6D-988E01832CC9}" dt="2026-04-24T17:51:56.347" v="93" actId="1035"/>
          <ac:cxnSpMkLst>
            <pc:docMk/>
            <pc:sldMk cId="0" sldId="272"/>
            <ac:cxnSpMk id="44" creationId="{00000000-0000-0000-0000-000000000000}"/>
          </ac:cxnSpMkLst>
        </pc:cxnChg>
      </pc:sldChg>
      <pc:sldChg chg="new del">
        <pc:chgData name="Olamide Adeboye" userId="9e787034137b2853" providerId="LiveId" clId="{7D6CD3DA-39E8-4DBC-AE6D-988E01832CC9}" dt="2026-04-24T20:11:15.904" v="103" actId="680"/>
        <pc:sldMkLst>
          <pc:docMk/>
          <pc:sldMk cId="2554505550" sldId="272"/>
        </pc:sldMkLst>
      </pc:sldChg>
      <pc:sldChg chg="addSp delSp modSp add mod modNotesTx">
        <pc:chgData name="Olamide Adeboye" userId="9e787034137b2853" providerId="LiveId" clId="{7D6CD3DA-39E8-4DBC-AE6D-988E01832CC9}" dt="2026-04-24T20:43:26.228" v="407" actId="20577"/>
        <pc:sldMkLst>
          <pc:docMk/>
          <pc:sldMk cId="1252368480" sldId="273"/>
        </pc:sldMkLst>
        <pc:spChg chg="add mod">
          <ac:chgData name="Olamide Adeboye" userId="9e787034137b2853" providerId="LiveId" clId="{7D6CD3DA-39E8-4DBC-AE6D-988E01832CC9}" dt="2026-04-24T20:20:21.198" v="139" actId="14100"/>
          <ac:spMkLst>
            <pc:docMk/>
            <pc:sldMk cId="1252368480" sldId="273"/>
            <ac:spMk id="7" creationId="{7B3C42AC-7A9F-A73D-ABD8-D00873FBE8B3}"/>
          </ac:spMkLst>
        </pc:spChg>
        <pc:spChg chg="add mod">
          <ac:chgData name="Olamide Adeboye" userId="9e787034137b2853" providerId="LiveId" clId="{7D6CD3DA-39E8-4DBC-AE6D-988E01832CC9}" dt="2026-04-24T20:20:30.954" v="140"/>
          <ac:spMkLst>
            <pc:docMk/>
            <pc:sldMk cId="1252368480" sldId="273"/>
            <ac:spMk id="8" creationId="{070D9284-C3B6-A871-4359-7669D3E176E2}"/>
          </ac:spMkLst>
        </pc:spChg>
        <pc:picChg chg="add mod">
          <ac:chgData name="Olamide Adeboye" userId="9e787034137b2853" providerId="LiveId" clId="{7D6CD3DA-39E8-4DBC-AE6D-988E01832CC9}" dt="2026-04-24T20:17:39.398" v="136"/>
          <ac:picMkLst>
            <pc:docMk/>
            <pc:sldMk cId="1252368480" sldId="273"/>
            <ac:picMk id="6" creationId="{A6A51D73-CC5D-AB60-EA38-409D3E96FD65}"/>
          </ac:picMkLst>
        </pc:picChg>
        <pc:picChg chg="del">
          <ac:chgData name="Olamide Adeboye" userId="9e787034137b2853" providerId="LiveId" clId="{7D6CD3DA-39E8-4DBC-AE6D-988E01832CC9}" dt="2026-04-24T20:17:37.960" v="134" actId="478"/>
          <ac:picMkLst>
            <pc:docMk/>
            <pc:sldMk cId="1252368480" sldId="273"/>
            <ac:picMk id="52" creationId="{C4D5E57D-43BE-8363-2A57-F4999AD37348}"/>
          </ac:picMkLst>
        </pc:picChg>
      </pc:sldChg>
      <pc:sldChg chg="add del">
        <pc:chgData name="Olamide Adeboye" userId="9e787034137b2853" providerId="LiveId" clId="{7D6CD3DA-39E8-4DBC-AE6D-988E01832CC9}" dt="2026-04-24T20:11:29.850" v="106" actId="2696"/>
        <pc:sldMkLst>
          <pc:docMk/>
          <pc:sldMk cId="2985713827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49FE8-59AD-4B3E-B77C-CD46C2740DFC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76175B-8421-41F3-9CFB-7E67C30300B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912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"Command-line" means the program runs in a terminal window where you type numbers to pick options, rather than clicking buttons in a graphical app.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993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frames </a:t>
            </a:r>
            <a:r>
              <a:rPr lang="en-US" b="1" dirty="0"/>
              <a:t>why</a:t>
            </a:r>
            <a:r>
              <a:rPr lang="en-US" dirty="0"/>
              <a:t> the project exists. Small businesses track products on paper or spreadsheets, which is slow and error-prone. The team's answer is a Python program that adds, sells, restocks, and removes products, plus generates reports.</a:t>
            </a:r>
          </a:p>
          <a:p>
            <a:r>
              <a:rPr lang="en-US" dirty="0"/>
              <a:t>The </a:t>
            </a:r>
            <a:r>
              <a:rPr lang="en-US" b="1" dirty="0"/>
              <a:t>tech stack</a:t>
            </a:r>
            <a:r>
              <a:rPr lang="en-US" dirty="0"/>
              <a:t> is the list of tools used:</a:t>
            </a:r>
          </a:p>
          <a:p>
            <a:r>
              <a:rPr lang="en-US" b="1" dirty="0"/>
              <a:t>Python 3</a:t>
            </a:r>
            <a:r>
              <a:rPr lang="en-US" dirty="0"/>
              <a:t> is the language.</a:t>
            </a:r>
          </a:p>
          <a:p>
            <a:r>
              <a:rPr lang="en-US" b="1" dirty="0"/>
              <a:t>Object-Oriented</a:t>
            </a:r>
            <a:r>
              <a:rPr lang="en-US" dirty="0"/>
              <a:t> means the code is </a:t>
            </a:r>
            <a:r>
              <a:rPr lang="en-US" dirty="0" err="1"/>
              <a:t>organised</a:t>
            </a:r>
            <a:r>
              <a:rPr lang="en-US" dirty="0"/>
              <a:t> around "objects" 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 (you can see these as classes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products.py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).</a:t>
            </a:r>
          </a:p>
          <a:p>
            <a:r>
              <a:rPr lang="en-US" b="1" dirty="0"/>
              <a:t>JSON files</a:t>
            </a:r>
            <a:r>
              <a:rPr lang="en-US" dirty="0"/>
              <a:t> store the data on disk so it survives after the program closes. You can see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writing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inventory.json</a:t>
            </a:r>
            <a:r>
              <a:rPr lang="en-US" dirty="0"/>
              <a:t> in its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method.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logging</a:t>
            </a:r>
            <a:r>
              <a:rPr lang="en-US" b="1" dirty="0"/>
              <a:t> module</a:t>
            </a:r>
            <a:r>
              <a:rPr lang="en-US" dirty="0"/>
              <a:t> records what the program does, and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unittest</a:t>
            </a:r>
            <a:r>
              <a:rPr lang="en-US" dirty="0"/>
              <a:t> is Python's built-in testing framework.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6132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checklist of what the program can do. Each feature maps directly to code:</a:t>
            </a:r>
          </a:p>
          <a:p>
            <a:r>
              <a:rPr lang="en-US" dirty="0"/>
              <a:t>"Sell &amp; restock with validation" is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inventory.sell_product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inventory.restock_product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r>
              <a:rPr lang="en-US" dirty="0"/>
              <a:t>"Low-stock report (configurable threshold)" is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, and the threshold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low_stock_threshold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en-US" dirty="0"/>
              <a:t> parameter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.</a:t>
            </a:r>
          </a:p>
          <a:p>
            <a:r>
              <a:rPr lang="en-US" dirty="0"/>
              <a:t>"Data persistence (JSON auto-save)"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 at the end of nearly every method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.</a:t>
            </a:r>
          </a:p>
          <a:p>
            <a:r>
              <a:rPr lang="en-US" dirty="0"/>
              <a:t>"Console + file logging" is set up at the top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where the logger gets two handlers.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002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</a:t>
            </a:r>
            <a:r>
              <a:rPr lang="en-US" b="1" dirty="0"/>
              <a:t>six files</a:t>
            </a:r>
            <a:r>
              <a:rPr lang="en-US" dirty="0"/>
              <a:t> and how they talk to each other. In Python, each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</a:t>
            </a:r>
            <a:r>
              <a:rPr lang="en-US" dirty="0"/>
              <a:t> file is a </a:t>
            </a:r>
            <a:r>
              <a:rPr lang="en-US" b="1" dirty="0"/>
              <a:t>module</a:t>
            </a:r>
            <a:r>
              <a:rPr lang="en-US" dirty="0"/>
              <a:t>. Splitting code into multiple modules keeps each one focused on one job: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is the entry point (you run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 main.py</a:t>
            </a:r>
            <a:r>
              <a:rPr lang="en-US" dirty="0"/>
              <a:t> and it starts here).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holds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 class that manages a collection of products.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products.py</a:t>
            </a:r>
            <a:r>
              <a:rPr lang="en-US" dirty="0"/>
              <a:t> defines what a product is (you don't have this file in the uploads, but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imports from it).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transaction_log.py</a:t>
            </a:r>
            <a:r>
              <a:rPr lang="en-US" dirty="0"/>
              <a:t> records every stock change with a timestamp.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exceptions.py</a:t>
            </a:r>
            <a:r>
              <a:rPr lang="en-US" dirty="0"/>
              <a:t> defines custom error types.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data/*.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</a:t>
            </a:r>
            <a:r>
              <a:rPr lang="en-US" dirty="0"/>
              <a:t> are the files on disk where state is saved.</a:t>
            </a:r>
          </a:p>
          <a:p>
            <a:r>
              <a:rPr lang="en-US" dirty="0"/>
              <a:t>The arrow at the bottom shows the flow: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runs the menu, calls methods on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, which holds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objects,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 records every change.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7942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introduces four key OOP concepts using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family as an example:</a:t>
            </a:r>
          </a:p>
          <a:p>
            <a:r>
              <a:rPr lang="en-US" b="1" dirty="0"/>
              <a:t>Encapsulation</a:t>
            </a:r>
            <a:r>
              <a:rPr lang="en-US" dirty="0"/>
              <a:t>: validation happens inside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. That means when you try to create a bad product (say, negative price), the class refuses right away. The data and the rules that protect it live together.</a:t>
            </a:r>
          </a:p>
          <a:p>
            <a:r>
              <a:rPr lang="en-US" b="1" dirty="0"/>
              <a:t>Inheritance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PerishableProduct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DigitalProduct</a:t>
            </a:r>
            <a:r>
              <a:rPr lang="en-US" dirty="0"/>
              <a:t> both inherit from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, so they automatically get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restock()</a:t>
            </a:r>
            <a:r>
              <a:rPr lang="en-US" dirty="0"/>
              <a:t>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without rewriting them.</a:t>
            </a:r>
          </a:p>
          <a:p>
            <a:r>
              <a:rPr lang="en-US" b="1" dirty="0"/>
              <a:t>Polymorphism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PerishableProduct</a:t>
            </a:r>
            <a:r>
              <a:rPr lang="en-US" dirty="0"/>
              <a:t> has its own version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 that first checks if the item has expired. Same method name, different </a:t>
            </a:r>
            <a:r>
              <a:rPr lang="en-US" dirty="0" err="1"/>
              <a:t>behaviour</a:t>
            </a:r>
            <a:r>
              <a:rPr lang="en-US" dirty="0"/>
              <a:t> depending on the type.</a:t>
            </a:r>
          </a:p>
          <a:p>
            <a:r>
              <a:rPr lang="en-US" b="1" dirty="0"/>
              <a:t>Factory method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is a </a:t>
            </a:r>
            <a:r>
              <a:rPr lang="en-US" dirty="0" err="1"/>
              <a:t>classmethod</a:t>
            </a:r>
            <a:r>
              <a:rPr lang="en-US" dirty="0"/>
              <a:t> that reads a saved JSON record, looks at its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"type"</a:t>
            </a:r>
            <a:r>
              <a:rPr lang="en-US" dirty="0"/>
              <a:t> field, and returns the matching subclass. You can see this being used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where it loops through JSON entries and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161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0C335-F13E-0506-3709-882A0B3F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E87A-F9D5-27CD-1D57-CEC477FDE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AE72E-BF51-D7CF-D791-B9F6DCBF3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effectLst/>
              </a:rPr>
              <a:t>Product (the base class)</a:t>
            </a:r>
          </a:p>
          <a:p>
            <a:r>
              <a:rPr lang="en-US" dirty="0">
                <a:effectLst/>
              </a:rPr>
              <a:t>This is the foundation. Everything else in the system either </a:t>
            </a:r>
            <a:r>
              <a:rPr lang="en-US" b="1" dirty="0">
                <a:effectLst/>
              </a:rPr>
              <a:t>is</a:t>
            </a:r>
            <a:r>
              <a:rPr lang="en-US" dirty="0">
                <a:effectLst/>
              </a:rPr>
              <a:t> a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(inheritance) or </a:t>
            </a:r>
            <a:r>
              <a:rPr lang="en-US" b="1" dirty="0">
                <a:effectLst/>
              </a:rPr>
              <a:t>holds</a:t>
            </a:r>
            <a:r>
              <a:rPr lang="en-US" dirty="0">
                <a:effectLst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objects (composition).</a:t>
            </a:r>
          </a:p>
          <a:p>
            <a:r>
              <a:rPr lang="en-US" b="1" dirty="0">
                <a:effectLst/>
              </a:rPr>
              <a:t>Attributes</a:t>
            </a:r>
            <a:r>
              <a:rPr lang="en-US" dirty="0">
                <a:effectLst/>
              </a:rPr>
              <a:t> (set in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dirty="0">
                <a:effectLst/>
              </a:rPr>
              <a:t>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en-US" dirty="0">
                <a:effectLst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en-US" dirty="0">
                <a:effectLst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</a:t>
            </a:r>
            <a:r>
              <a:rPr lang="en-US" dirty="0">
                <a:effectLst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en-US" dirty="0">
                <a:effectLst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category</a:t>
            </a:r>
            <a:r>
              <a:rPr lang="en-US" dirty="0">
                <a:effectLst/>
              </a:rPr>
              <a:t>. All five are validated before being assigned. If any check fails,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dirty="0">
                <a:effectLst/>
              </a:rPr>
              <a:t>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InvalidProductError</a:t>
            </a:r>
            <a:r>
              <a:rPr lang="en-US" dirty="0">
                <a:effectLst/>
              </a:rPr>
              <a:t> straight away. This is the "fail fast" idea from the presentation.</a:t>
            </a:r>
          </a:p>
          <a:p>
            <a:r>
              <a:rPr lang="en-US" b="1" dirty="0">
                <a:effectLst/>
              </a:rPr>
              <a:t>Methods:</a:t>
            </a:r>
            <a:endParaRPr lang="en-US" dirty="0">
              <a:effectLst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sell(qty)</a:t>
            </a:r>
            <a:r>
              <a:rPr lang="en-US" dirty="0">
                <a:effectLst/>
              </a:rPr>
              <a:t> checks the requested quantity is a positive whole number, checks there's enough stock, subtracts from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self.quantity</a:t>
            </a:r>
            <a:r>
              <a:rPr lang="en-US" dirty="0">
                <a:effectLst/>
              </a:rPr>
              <a:t>, and logs the sale. If there isn't enough stock it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OutOfStockError</a:t>
            </a:r>
            <a:r>
              <a:rPr lang="en-US" dirty="0">
                <a:effectLst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restock(qty)</a:t>
            </a:r>
            <a:r>
              <a:rPr lang="en-US" dirty="0">
                <a:effectLst/>
              </a:rPr>
              <a:t> is the opposite: validate, add 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self.quantity</a:t>
            </a:r>
            <a:r>
              <a:rPr lang="en-US" dirty="0">
                <a:effectLst/>
              </a:rPr>
              <a:t>, log.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__str__()</a:t>
            </a:r>
            <a:r>
              <a:rPr lang="en-US" dirty="0">
                <a:effectLst/>
              </a:rPr>
              <a:t> is what Python calls when you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print(product)</a:t>
            </a:r>
            <a:r>
              <a:rPr lang="en-US" dirty="0">
                <a:effectLst/>
              </a:rPr>
              <a:t>. It returns that formatted one-liner you see in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 option 2.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converts the object into a plain dictionary for saving to JSON. It tags the output with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"type": "standard"</a:t>
            </a:r>
            <a:r>
              <a:rPr lang="en-US" dirty="0">
                <a:effectLst/>
              </a:rPr>
              <a:t> so the system knows what kind of product this is when loading.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(data)</a:t>
            </a:r>
            <a:r>
              <a:rPr lang="en-US" dirty="0">
                <a:effectLst/>
              </a:rPr>
              <a:t> is a </a:t>
            </a:r>
            <a:r>
              <a:rPr lang="en-US" b="1" dirty="0" err="1">
                <a:effectLst/>
              </a:rPr>
              <a:t>classmethod</a:t>
            </a:r>
            <a:r>
              <a:rPr lang="en-US" dirty="0">
                <a:effectLst/>
              </a:rPr>
              <a:t> (notice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@classmethod</a:t>
            </a:r>
            <a:r>
              <a:rPr lang="en-US" dirty="0">
                <a:effectLst/>
              </a:rPr>
              <a:t> decorator). This is the factory method. It reads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data["type"]</a:t>
            </a:r>
            <a:r>
              <a:rPr lang="en-US" dirty="0">
                <a:effectLst/>
              </a:rPr>
              <a:t> and returns the right kind of product: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PerishableProduct</a:t>
            </a:r>
            <a:r>
              <a:rPr lang="en-US" dirty="0">
                <a:effectLst/>
              </a:rPr>
              <a:t>,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DigitalProduct</a:t>
            </a:r>
            <a:r>
              <a:rPr lang="en-US" dirty="0">
                <a:effectLst/>
              </a:rPr>
              <a:t>, or a plain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. This is the bit that makes loading from JSON work properly.</a:t>
            </a:r>
          </a:p>
          <a:p>
            <a:r>
              <a:rPr lang="en-US" b="1" dirty="0" err="1">
                <a:effectLst/>
              </a:rPr>
              <a:t>PerishableProduct</a:t>
            </a:r>
            <a:r>
              <a:rPr lang="en-US" b="1" dirty="0">
                <a:effectLst/>
              </a:rPr>
              <a:t> (inherits from Product)</a:t>
            </a:r>
          </a:p>
          <a:p>
            <a:r>
              <a:rPr lang="en-US" dirty="0">
                <a:effectLst/>
              </a:rPr>
              <a:t>Same as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but for things that go off, like milk or bread.</a:t>
            </a:r>
          </a:p>
          <a:p>
            <a:r>
              <a:rPr lang="en-US" b="1" dirty="0">
                <a:effectLst/>
              </a:rPr>
              <a:t>How the link works:</a:t>
            </a:r>
            <a:r>
              <a:rPr lang="en-US" dirty="0">
                <a:effectLst/>
              </a:rPr>
              <a:t> The line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PerishableProduct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(Product):</a:t>
            </a:r>
            <a:r>
              <a:rPr lang="en-US" dirty="0">
                <a:effectLst/>
              </a:rPr>
              <a:t> tells Python that this class </a:t>
            </a:r>
            <a:r>
              <a:rPr lang="en-US" b="1" dirty="0">
                <a:effectLst/>
              </a:rPr>
              <a:t>is a</a:t>
            </a:r>
            <a:r>
              <a:rPr lang="en-US" dirty="0">
                <a:effectLst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. The word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super()</a:t>
            </a:r>
            <a:r>
              <a:rPr lang="en-US" dirty="0">
                <a:effectLst/>
              </a:rPr>
              <a:t> in the code means "the parent class." So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super().__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name, price, quantity, category)</a:t>
            </a:r>
            <a:r>
              <a:rPr lang="en-US" dirty="0">
                <a:effectLst/>
              </a:rPr>
              <a:t> runs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's own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</a:t>
            </a:r>
            <a:r>
              <a:rPr lang="en-US" dirty="0">
                <a:effectLst/>
              </a:rPr>
              <a:t> first to set up and validate the five standard fields. Then the subclass adds its own extra work: validating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expiry_date</a:t>
            </a:r>
            <a:r>
              <a:rPr lang="en-US" dirty="0">
                <a:effectLst/>
              </a:rPr>
              <a:t> format and storing it.</a:t>
            </a:r>
          </a:p>
          <a:p>
            <a:r>
              <a:rPr lang="en-US" b="1" dirty="0">
                <a:effectLst/>
              </a:rPr>
              <a:t>New attribute:</a:t>
            </a:r>
            <a:r>
              <a:rPr lang="en-US" dirty="0">
                <a:effectLst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expiry_date</a:t>
            </a:r>
            <a:r>
              <a:rPr lang="en-US" dirty="0">
                <a:effectLst/>
              </a:rPr>
              <a:t> as a string like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"2026-05-15"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New and changed methods:</a:t>
            </a:r>
            <a:endParaRPr lang="en-US" dirty="0">
              <a:effectLst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is_expired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compares the expiry date to today's date and returns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</a:t>
            </a:r>
            <a:r>
              <a:rPr lang="en-US" dirty="0">
                <a:effectLst/>
              </a:rPr>
              <a:t> if it's past.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sell(qty)</a:t>
            </a:r>
            <a:r>
              <a:rPr lang="en-US" dirty="0">
                <a:effectLst/>
              </a:rPr>
              <a:t> </a:t>
            </a:r>
            <a:r>
              <a:rPr lang="en-US" b="1" dirty="0">
                <a:effectLst/>
              </a:rPr>
              <a:t>overrides</a:t>
            </a:r>
            <a:r>
              <a:rPr lang="en-US" dirty="0">
                <a:effectLst/>
              </a:rPr>
              <a:t> the parent's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sell()</a:t>
            </a:r>
            <a:r>
              <a:rPr lang="en-US" dirty="0">
                <a:effectLst/>
              </a:rPr>
              <a:t>. It first checks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is_expired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. If the item has gone off, it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OutOfStockError</a:t>
            </a:r>
            <a:r>
              <a:rPr lang="en-US" dirty="0">
                <a:effectLst/>
              </a:rPr>
              <a:t>. Otherwise it calls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super().sell(qty)</a:t>
            </a:r>
            <a:r>
              <a:rPr lang="en-US" dirty="0">
                <a:effectLst/>
              </a:rPr>
              <a:t>, which runs the parent's normal sell logic. This is a nice clean use of inheritance: you're not rewriting the stock-checking code, just adding an extra check on top.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calls the parent's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first (to get the standard fields), then adds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expiry_date</a:t>
            </a:r>
            <a:r>
              <a:rPr lang="en-US" dirty="0">
                <a:effectLst/>
              </a:rPr>
              <a:t> and changes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"type"</a:t>
            </a:r>
            <a:r>
              <a:rPr lang="en-US" dirty="0">
                <a:effectLst/>
              </a:rPr>
              <a:t>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"perishable"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 err="1">
                <a:effectLst/>
              </a:rPr>
              <a:t>DigitalProduct</a:t>
            </a:r>
            <a:r>
              <a:rPr lang="en-US" b="1" dirty="0">
                <a:effectLst/>
              </a:rPr>
              <a:t> (inherits from Product)</a:t>
            </a:r>
          </a:p>
          <a:p>
            <a:r>
              <a:rPr lang="en-US" dirty="0">
                <a:effectLst/>
              </a:rPr>
              <a:t>For things you download, like an </a:t>
            </a:r>
            <a:r>
              <a:rPr lang="en-US" dirty="0" err="1">
                <a:effectLst/>
              </a:rPr>
              <a:t>ebook</a:t>
            </a:r>
            <a:r>
              <a:rPr lang="en-US" dirty="0">
                <a:effectLst/>
              </a:rPr>
              <a:t> or software. The quirky thing is there's no real stock to track, since you can sell infinite copies of a file.</a:t>
            </a:r>
          </a:p>
          <a:p>
            <a:r>
              <a:rPr lang="en-US" b="1" dirty="0">
                <a:effectLst/>
              </a:rPr>
              <a:t>New attributes:</a:t>
            </a:r>
            <a:r>
              <a:rPr lang="en-US" dirty="0">
                <a:effectLst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download_link</a:t>
            </a:r>
            <a:r>
              <a:rPr lang="en-US" dirty="0">
                <a:effectLst/>
              </a:rPr>
              <a:t> as a string. Also,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en-US" dirty="0">
                <a:effectLst/>
              </a:rPr>
              <a:t> is always set to 0 (you can see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super().__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name, price, 0, category)</a:t>
            </a:r>
            <a:r>
              <a:rPr lang="en-US" dirty="0">
                <a:effectLst/>
              </a:rPr>
              <a:t> hardcodes it).</a:t>
            </a:r>
          </a:p>
          <a:p>
            <a:r>
              <a:rPr lang="en-US" b="1" dirty="0">
                <a:effectLst/>
              </a:rPr>
              <a:t>Changed methods:</a:t>
            </a:r>
            <a:endParaRPr lang="en-US" dirty="0">
              <a:effectLst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sell(qty=1)</a:t>
            </a:r>
            <a:r>
              <a:rPr lang="en-US" dirty="0">
                <a:effectLst/>
              </a:rPr>
              <a:t> overrides the parent's sell.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qty=1</a:t>
            </a:r>
            <a:r>
              <a:rPr lang="en-US" dirty="0">
                <a:effectLst/>
              </a:rPr>
              <a:t> means "if nobody tells me how many, assume one." It validates the quantity, logs the sale, and </a:t>
            </a:r>
            <a:r>
              <a:rPr lang="en-US" b="1" dirty="0">
                <a:effectLst/>
              </a:rPr>
              <a:t>returns the download link</a:t>
            </a:r>
            <a:r>
              <a:rPr lang="en-US" dirty="0">
                <a:effectLst/>
              </a:rPr>
              <a:t>. It does </a:t>
            </a:r>
            <a:r>
              <a:rPr lang="en-US" b="1" dirty="0">
                <a:effectLst/>
              </a:rPr>
              <a:t>not</a:t>
            </a:r>
            <a:r>
              <a:rPr lang="en-US" dirty="0">
                <a:effectLst/>
              </a:rPr>
              <a:t> subtract from stock. This is why digital products are treated specially 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Inventory.sell_product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, which skips the low-stock warning for them.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get_download_link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is a simple getter.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adds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download_link</a:t>
            </a:r>
            <a:r>
              <a:rPr lang="en-US" dirty="0">
                <a:effectLst/>
              </a:rPr>
              <a:t> and sets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"type": "digital"</a:t>
            </a:r>
            <a:r>
              <a:rPr lang="en-US" dirty="0">
                <a:effectLst/>
              </a:rPr>
              <a:t>.</a:t>
            </a:r>
          </a:p>
          <a:p>
            <a:br>
              <a:rPr lang="en-US" b="1" dirty="0">
                <a:effectLst/>
              </a:rPr>
            </a:br>
            <a:r>
              <a:rPr lang="en-US" b="1" dirty="0">
                <a:effectLst/>
              </a:rPr>
              <a:t>Inventory (the manager)</a:t>
            </a:r>
          </a:p>
          <a:p>
            <a:r>
              <a:rPr lang="en-US" dirty="0">
                <a:effectLst/>
              </a:rPr>
              <a:t>This class doesn't inherit from anything. It </a:t>
            </a:r>
            <a:r>
              <a:rPr lang="en-US" b="1" dirty="0">
                <a:effectLst/>
              </a:rPr>
              <a:t>holds</a:t>
            </a:r>
            <a:r>
              <a:rPr lang="en-US" dirty="0">
                <a:effectLst/>
              </a:rPr>
              <a:t> products instead. The relationship is called </a:t>
            </a:r>
            <a:r>
              <a:rPr lang="en-US" b="1" dirty="0">
                <a:effectLst/>
              </a:rPr>
              <a:t>composition</a:t>
            </a:r>
            <a:r>
              <a:rPr lang="en-US" dirty="0">
                <a:effectLst/>
              </a:rPr>
              <a:t> (dashed arrow in the diagram): an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 has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dict</a:t>
            </a:r>
            <a:r>
              <a:rPr lang="en-US" dirty="0">
                <a:effectLst/>
              </a:rPr>
              <a:t> full of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objects.</a:t>
            </a:r>
          </a:p>
          <a:p>
            <a:r>
              <a:rPr lang="en-US" b="1" dirty="0">
                <a:effectLst/>
              </a:rPr>
              <a:t>Attributes:</a:t>
            </a:r>
            <a:r>
              <a:rPr lang="en-US" dirty="0">
                <a:effectLst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</a:t>
            </a:r>
            <a:r>
              <a:rPr lang="en-US" dirty="0">
                <a:effectLst/>
              </a:rPr>
              <a:t> (a dictionary where the key is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en-US" dirty="0">
                <a:effectLst/>
              </a:rPr>
              <a:t> and the value is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object),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low_stock_threshold</a:t>
            </a:r>
            <a:r>
              <a:rPr lang="en-US" dirty="0">
                <a:effectLst/>
              </a:rPr>
              <a:t>,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data_file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How it links to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b="1" dirty="0">
                <a:effectLst/>
              </a:rPr>
              <a:t>:</a:t>
            </a:r>
            <a:endParaRPr lang="en-US" dirty="0">
              <a:effectLst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(product)</a:t>
            </a:r>
            <a:r>
              <a:rPr lang="en-US" dirty="0">
                <a:effectLst/>
              </a:rPr>
              <a:t> takes any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(or subclass) and stores it in the dictionary. Before storing, it checks for a duplicate ID and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DuplicateProductError</a:t>
            </a:r>
            <a:r>
              <a:rPr lang="en-US" dirty="0">
                <a:effectLst/>
              </a:rPr>
              <a:t> if there's a clash.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qty)</a:t>
            </a:r>
            <a:r>
              <a:rPr lang="en-US" dirty="0">
                <a:effectLst/>
              </a:rPr>
              <a:t> first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to look up the product, then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product.sell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(qty)</a:t>
            </a:r>
            <a:r>
              <a:rPr lang="en-US" dirty="0">
                <a:effectLst/>
              </a:rPr>
              <a:t> on it. Because of polymorphism, if the product happens to be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PerishableProduct</a:t>
            </a:r>
            <a:r>
              <a:rPr lang="en-US" dirty="0">
                <a:effectLst/>
              </a:rPr>
              <a:t>, the expiry check runs automatically. If it's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DigitalProduct</a:t>
            </a:r>
            <a:r>
              <a:rPr lang="en-US" dirty="0">
                <a:effectLst/>
              </a:rPr>
              <a:t>, no stock is decremented.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 doesn't need to know or care which kind it's dealing with.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load_data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reads the JSON file and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(item)</a:t>
            </a:r>
            <a:r>
              <a:rPr lang="en-US" dirty="0">
                <a:effectLst/>
              </a:rPr>
              <a:t> for each entry. The factory method builds the right subclass, and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 just stores whatever comes back.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save_data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loops through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self.products.values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and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on each. Again, polymorphism: each product knows how to serialize itself.</a:t>
            </a:r>
          </a:p>
          <a:p>
            <a:br>
              <a:rPr lang="en-US" b="1" dirty="0">
                <a:effectLst/>
              </a:rPr>
            </a:br>
            <a:r>
              <a:rPr lang="en-US" b="1" dirty="0" err="1">
                <a:effectLst/>
              </a:rPr>
              <a:t>TransactionLog</a:t>
            </a:r>
            <a:r>
              <a:rPr lang="en-US" b="1" dirty="0">
                <a:effectLst/>
              </a:rPr>
              <a:t> (the diary)</a:t>
            </a:r>
          </a:p>
          <a:p>
            <a:r>
              <a:rPr lang="en-US" dirty="0">
                <a:effectLst/>
              </a:rPr>
              <a:t>Also doesn't inherit from anything and doesn't hold any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objects. It just records </a:t>
            </a:r>
            <a:r>
              <a:rPr lang="en-US" b="1" dirty="0">
                <a:effectLst/>
              </a:rPr>
              <a:t>information about</a:t>
            </a:r>
            <a:r>
              <a:rPr lang="en-US" dirty="0">
                <a:effectLst/>
              </a:rPr>
              <a:t> transactions, specifically the IDs and names rather than the objects themselves.</a:t>
            </a:r>
          </a:p>
          <a:p>
            <a:r>
              <a:rPr lang="en-US" b="1" dirty="0">
                <a:effectLst/>
              </a:rPr>
              <a:t>Attributes:</a:t>
            </a:r>
            <a:r>
              <a:rPr lang="en-US" dirty="0">
                <a:effectLst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entries</a:t>
            </a:r>
            <a:r>
              <a:rPr lang="en-US" dirty="0">
                <a:effectLst/>
              </a:rPr>
              <a:t> (a list of dictionaries)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log_file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How it links to the rest:</a:t>
            </a:r>
            <a:r>
              <a:rPr lang="en-US" dirty="0">
                <a:effectLst/>
              </a:rPr>
              <a:t> It doesn't, directly. Look at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: when you sell a product,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inventory.sell_product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(...)</a:t>
            </a:r>
            <a:r>
              <a:rPr lang="en-US" dirty="0">
                <a:effectLst/>
              </a:rPr>
              <a:t> and then separately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log.record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(...)</a:t>
            </a:r>
            <a:r>
              <a:rPr lang="en-US" dirty="0">
                <a:effectLst/>
              </a:rPr>
              <a:t>. These two classes never talk to each other.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 is the coordinator.</a:t>
            </a:r>
          </a:p>
          <a:p>
            <a:r>
              <a:rPr lang="en-US" dirty="0">
                <a:effectLst/>
              </a:rPr>
              <a:t>This is actually a deliberate design choice. Keeping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TransactionLog</a:t>
            </a:r>
            <a:r>
              <a:rPr lang="en-US" dirty="0">
                <a:effectLst/>
              </a:rPr>
              <a:t> separate means you could swap in a different logging system (maybe one that sends messages to a server) without changing anything about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.</a:t>
            </a:r>
          </a:p>
          <a:p>
            <a:br>
              <a:rPr lang="en-US" b="1" dirty="0">
                <a:effectLst/>
              </a:rPr>
            </a:br>
            <a:r>
              <a:rPr lang="en-US" b="1" dirty="0">
                <a:effectLst/>
              </a:rPr>
              <a:t>Custom Exceptions</a:t>
            </a:r>
          </a:p>
          <a:p>
            <a:r>
              <a:rPr lang="en-US" dirty="0">
                <a:effectLst/>
              </a:rPr>
              <a:t>The three exception classes in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exceptions.py</a:t>
            </a:r>
            <a:r>
              <a:rPr lang="en-US" dirty="0">
                <a:effectLst/>
              </a:rPr>
              <a:t> all inherit from Python's built-in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Exception</a:t>
            </a:r>
            <a:r>
              <a:rPr lang="en-US" dirty="0">
                <a:effectLst/>
              </a:rPr>
              <a:t>. Their only job is to have distinct names so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 can catch each one with its own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except</a:t>
            </a:r>
            <a:r>
              <a:rPr lang="en-US" dirty="0">
                <a:effectLst/>
              </a:rPr>
              <a:t> block and print a specific error message.</a:t>
            </a:r>
          </a:p>
          <a:p>
            <a:r>
              <a:rPr lang="en-US" b="1" dirty="0">
                <a:effectLst/>
              </a:rPr>
              <a:t>Who raises what:</a:t>
            </a:r>
            <a:endParaRPr lang="en-US" dirty="0">
              <a:effectLst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Product.__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__()</a:t>
            </a:r>
            <a:r>
              <a:rPr lang="en-US" dirty="0">
                <a:effectLst/>
              </a:rPr>
              <a:t>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InvalidProductError</a:t>
            </a:r>
            <a:r>
              <a:rPr lang="en-US" dirty="0">
                <a:effectLst/>
              </a:rPr>
              <a:t> when validation fails.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Product.sell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OutOfStockError</a:t>
            </a:r>
            <a:r>
              <a:rPr lang="en-US" dirty="0">
                <a:effectLst/>
              </a:rPr>
              <a:t> when stock is too low,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InvalidProductError</a:t>
            </a:r>
            <a:r>
              <a:rPr lang="en-US" dirty="0">
                <a:effectLst/>
              </a:rPr>
              <a:t> if the quantity is invalid.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PerishableProduct.sell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OutOfStockError</a:t>
            </a:r>
            <a:r>
              <a:rPr lang="en-US" dirty="0">
                <a:effectLst/>
              </a:rPr>
              <a:t> when the item has expired.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Inventory.add_product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raises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DuplicateProductError</a:t>
            </a:r>
            <a:r>
              <a:rPr lang="en-US" dirty="0">
                <a:effectLst/>
              </a:rPr>
              <a:t> for ID clashes.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Inventory.find_product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remove_product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InvalidProductError</a:t>
            </a:r>
            <a:r>
              <a:rPr lang="en-US" dirty="0">
                <a:effectLst/>
              </a:rPr>
              <a:t> when the ID isn't found.</a:t>
            </a:r>
          </a:p>
          <a:p>
            <a:br>
              <a:rPr lang="en-US" b="1" dirty="0">
                <a:effectLst/>
              </a:rPr>
            </a:br>
            <a:r>
              <a:rPr lang="en-US" b="1" dirty="0">
                <a:effectLst/>
              </a:rPr>
              <a:t>The Big Picture</a:t>
            </a:r>
          </a:p>
          <a:p>
            <a:r>
              <a:rPr lang="en-US" dirty="0">
                <a:effectLst/>
              </a:rPr>
              <a:t>If you had to explain the whole system in two sentences: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en-US" dirty="0">
                <a:effectLst/>
              </a:rPr>
              <a:t> is a box that holds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en-US" dirty="0">
                <a:effectLst/>
              </a:rPr>
              <a:t> objects (some of which are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PerishableProduct</a:t>
            </a:r>
            <a:r>
              <a:rPr lang="en-US" dirty="0">
                <a:effectLst/>
              </a:rPr>
              <a:t>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DigitalProduct</a:t>
            </a:r>
            <a:r>
              <a:rPr lang="en-US" dirty="0">
                <a:effectLst/>
              </a:rPr>
              <a:t>), and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 runs a menu loop that manipulates that box, recording every action in a separate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TransactionLog</a:t>
            </a:r>
            <a:r>
              <a:rPr lang="en-US" dirty="0">
                <a:effectLst/>
              </a:rPr>
              <a:t>. The three custom exceptions are the tripwires that fire when something goes wrong, and they all get caught in one place,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main.py</a:t>
            </a:r>
            <a:r>
              <a:rPr lang="en-US" dirty="0">
                <a:effectLst/>
              </a:rPr>
              <a:t>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C605D-A559-621E-16A4-40EE2328E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43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manager. Key points, all visible in your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:</a:t>
            </a:r>
          </a:p>
          <a:p>
            <a:r>
              <a:rPr lang="en-US" dirty="0"/>
              <a:t>Products are stored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self.products</a:t>
            </a:r>
            <a:r>
              <a:rPr lang="en-US" dirty="0"/>
              <a:t>, a </a:t>
            </a:r>
            <a:r>
              <a:rPr lang="en-US" b="1" dirty="0"/>
              <a:t>dictionary</a:t>
            </a:r>
            <a:r>
              <a:rPr lang="en-US" dirty="0"/>
              <a:t> keyed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. Dictionaries give fast lookup by key, which is why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can go straight to the product without searching.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b="1" dirty="0"/>
              <a:t>update stock atomically</a:t>
            </a:r>
            <a:r>
              <a:rPr lang="en-US" dirty="0"/>
              <a:t>, meaning one complete operation that either fully succeeds or raises an error.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search()</a:t>
            </a:r>
            <a:r>
              <a:rPr lang="en-US" dirty="0"/>
              <a:t> uses a </a:t>
            </a:r>
            <a:r>
              <a:rPr lang="en-US" b="1" dirty="0"/>
              <a:t>list comprehension</a:t>
            </a:r>
            <a:r>
              <a:rPr lang="en-US" dirty="0"/>
              <a:t>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[product for product in ... if ...]</a:t>
            </a:r>
            <a:r>
              <a:rPr lang="en-US" dirty="0"/>
              <a:t> pattern) to filter products by name substring or category.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is a </a:t>
            </a:r>
            <a:r>
              <a:rPr lang="en-US" b="1" dirty="0"/>
              <a:t>generator</a:t>
            </a:r>
            <a:r>
              <a:rPr lang="en-US" dirty="0"/>
              <a:t>, shown in the code box on the slide. Instead of building a full list in memory,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</a:t>
            </a:r>
            <a:r>
              <a:rPr lang="en-US" dirty="0"/>
              <a:t> hands back one product at a time. For a shop with 100,000 products, this matters: you only hold one in memory at once.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stock_summary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stock_value_report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return dictionaries grouping products by category.</a:t>
            </a:r>
          </a:p>
          <a:p>
            <a:r>
              <a:rPr lang="en-US" dirty="0"/>
              <a:t>"Auto-saves on every mutation"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 at the end of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add_product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remove_product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sell_product</a:t>
            </a:r>
            <a:r>
              <a:rPr lang="en-US" dirty="0"/>
              <a:t>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restock_product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164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from inventory,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transaction_log.py</a:t>
            </a:r>
            <a:r>
              <a:rPr lang="en-US" dirty="0"/>
              <a:t> keeps an </a:t>
            </a:r>
            <a:r>
              <a:rPr lang="en-US" b="1" dirty="0"/>
              <a:t>audit trail</a:t>
            </a:r>
            <a:r>
              <a:rPr lang="en-US" dirty="0"/>
              <a:t>. Every time something is added, sold, restocked, or removed,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log.record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en-US" dirty="0"/>
              <a:t> appends a new entry.</a:t>
            </a:r>
          </a:p>
          <a:p>
            <a:r>
              <a:rPr lang="en-US" dirty="0"/>
              <a:t>The example JSON entry on the slide matches exactly what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record()</a:t>
            </a:r>
            <a:r>
              <a:rPr lang="en-US" dirty="0"/>
              <a:t> method builds: a dictionary with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timestamp</a:t>
            </a:r>
            <a:r>
              <a:rPr lang="en-US" dirty="0"/>
              <a:t> (produced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datetime.now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isoformat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),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action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product_name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quantity</a:t>
            </a:r>
            <a:r>
              <a:rPr lang="en-US" dirty="0"/>
              <a:t>,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details</a:t>
            </a:r>
            <a:r>
              <a:rPr lang="en-US" dirty="0"/>
              <a:t>. It's saved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log.json</a:t>
            </a:r>
            <a:r>
              <a:rPr lang="en-US" dirty="0"/>
              <a:t> after every record so nothing is lost if the program crashes.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summary()</a:t>
            </a:r>
            <a:r>
              <a:rPr lang="en-US" dirty="0"/>
              <a:t> prints the whole history, or just entries for one product if you pass a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4795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Custom exceptions</a:t>
            </a:r>
            <a:r>
              <a:rPr lang="en-US" dirty="0"/>
              <a:t> are user-defined error types. Your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exceptions.py</a:t>
            </a:r>
            <a:r>
              <a:rPr lang="en-US" dirty="0"/>
              <a:t> has three: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OutOfStockError</a:t>
            </a:r>
            <a:r>
              <a:rPr lang="en-US" dirty="0"/>
              <a:t> (raised when someone tries to sell more units than exist).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InvalidProductError</a:t>
            </a:r>
            <a:r>
              <a:rPr lang="en-US" dirty="0"/>
              <a:t> (bad data or a missing ID).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DuplicateProductError</a:t>
            </a:r>
            <a:r>
              <a:rPr lang="en-US" dirty="0"/>
              <a:t> (adding a product whose ID already exists, raised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inventory.add_product</a:t>
            </a:r>
            <a:r>
              <a:rPr lang="en-US" dirty="0"/>
              <a:t>).</a:t>
            </a:r>
            <a:br>
              <a:rPr lang="en-US" dirty="0"/>
            </a:br>
            <a:r>
              <a:rPr lang="en-US" dirty="0"/>
              <a:t>They're </a:t>
            </a:r>
            <a:r>
              <a:rPr lang="en-US" b="1" dirty="0"/>
              <a:t>caught centrally in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: look at the bottom of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 True</a:t>
            </a:r>
            <a:r>
              <a:rPr lang="en-US" dirty="0"/>
              <a:t> loop where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DuplicateProductError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e:</a:t>
            </a:r>
            <a:r>
              <a:rPr lang="en-US" dirty="0"/>
              <a:t> and friends catch each one and print a clean error message instead of crashing. "Fail fast" means validate early (in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) so bugs surface immediately.</a:t>
            </a:r>
          </a:p>
          <a:p>
            <a:r>
              <a:rPr lang="en-US" b="1" dirty="0"/>
              <a:t>Logging strategy</a:t>
            </a:r>
            <a:r>
              <a:rPr lang="en-US" dirty="0"/>
              <a:t> is set up at the top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:</a:t>
            </a:r>
          </a:p>
          <a:p>
            <a:r>
              <a:rPr lang="en-US" dirty="0"/>
              <a:t>One logger named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InventoryManager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en-US" dirty="0"/>
              <a:t>, shared across every module (that's why every file has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logger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logging.getLogger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InventoryManager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  <a:r>
              <a:rPr lang="en-US" dirty="0"/>
              <a:t>).</a:t>
            </a:r>
          </a:p>
          <a:p>
            <a:r>
              <a:rPr lang="en-US" dirty="0"/>
              <a:t>The </a:t>
            </a:r>
            <a:r>
              <a:rPr lang="en-US" b="1" dirty="0"/>
              <a:t>console handler</a:t>
            </a:r>
            <a:r>
              <a:rPr lang="en-US" dirty="0"/>
              <a:t> only shows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INFO</a:t>
            </a:r>
            <a:r>
              <a:rPr lang="en-US" dirty="0"/>
              <a:t> and above (informational messages, warnings, errors).</a:t>
            </a:r>
          </a:p>
          <a:p>
            <a:r>
              <a:rPr lang="en-US" dirty="0"/>
              <a:t>The </a:t>
            </a:r>
            <a:r>
              <a:rPr lang="en-US" b="1" dirty="0"/>
              <a:t>file handler</a:t>
            </a:r>
            <a:r>
              <a:rPr lang="en-US" dirty="0"/>
              <a:t> writes everything from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DEBUG</a:t>
            </a:r>
            <a:r>
              <a:rPr lang="en-US" dirty="0"/>
              <a:t> upwards into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logs/inventory.log</a:t>
            </a:r>
            <a:r>
              <a:rPr lang="en-US" dirty="0"/>
              <a:t>, so you have a detailed trace on disk even when the console stays clean.</a:t>
            </a:r>
          </a:p>
          <a:p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93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Explains how Python objects survive between runs. The diagram shows a round trip:</a:t>
            </a:r>
          </a:p>
          <a:p>
            <a:r>
              <a:rPr lang="en-US" b="1" dirty="0"/>
              <a:t>Save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on every product to turn it into a plain dictionary,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json.dump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writes the list of dictionaries to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inventory.json</a:t>
            </a:r>
            <a:r>
              <a:rPr lang="en-US" dirty="0"/>
              <a:t>.</a:t>
            </a:r>
          </a:p>
          <a:p>
            <a:r>
              <a:rPr lang="en-US" b="1" dirty="0"/>
              <a:t>Load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opens the file,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json.load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to parse it,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 rebuilds the correct subclass for each entry.</a:t>
            </a:r>
          </a:p>
          <a:p>
            <a:r>
              <a:rPr lang="en-US" dirty="0"/>
              <a:t>The slide highlights two defensive touches that you can see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</a:t>
            </a:r>
          </a:p>
          <a:p>
            <a:r>
              <a:rPr lang="en-US" b="1" dirty="0"/>
              <a:t>Corrupted entries are skipped with a warning</a:t>
            </a:r>
            <a:r>
              <a:rPr lang="en-US" dirty="0"/>
              <a:t> rather than crashing the whole load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try/except</a:t>
            </a:r>
            <a:r>
              <a:rPr lang="en-US" dirty="0"/>
              <a:t> around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).</a:t>
            </a:r>
          </a:p>
          <a:p>
            <a:r>
              <a:rPr lang="en-US" b="1" dirty="0"/>
              <a:t>Graceful fallback</a:t>
            </a:r>
            <a:r>
              <a:rPr lang="en-US" dirty="0"/>
              <a:t> if the file is missing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not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os.path.exists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self.data_file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): return</a:t>
            </a:r>
            <a:r>
              <a:rPr lang="en-US" dirty="0"/>
              <a:t> check at the start).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9656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screenshot of what the user sees. This is the menu printed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display_menu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, and below it is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input("Enter your choice (1-11): ")</a:t>
            </a:r>
            <a:r>
              <a:rPr lang="en-US" dirty="0"/>
              <a:t> prompt. The program is a big loop: show menu, read a number, do the matching action, repeat until the user picks option 11.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779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Unit tests</a:t>
            </a:r>
            <a:r>
              <a:rPr lang="en-US" dirty="0"/>
              <a:t> are small programs that check your code works. The team wrote 26 of them, grouped into test classes by topic: one for each product type, one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, one 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.</a:t>
            </a:r>
          </a:p>
          <a:p>
            <a:r>
              <a:rPr lang="en-US" dirty="0"/>
              <a:t>The command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 -m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discover tests -v</a:t>
            </a:r>
            <a:r>
              <a:rPr lang="en-US" dirty="0"/>
              <a:t> finds every test file in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tests/</a:t>
            </a:r>
            <a:r>
              <a:rPr lang="en-US" dirty="0"/>
              <a:t> folder and runs them.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-v</a:t>
            </a:r>
            <a:r>
              <a:rPr lang="en-US" dirty="0"/>
              <a:t> flag means verbose output (shows each test name).</a:t>
            </a:r>
          </a:p>
          <a:p>
            <a:r>
              <a:rPr lang="en-US" dirty="0"/>
              <a:t>"Happy paths AND exception paths" means they test both normal use (selling a product that exists) and error cases (selling more than available, which should raise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OutOfStockError</a:t>
            </a:r>
            <a:r>
              <a:rPr lang="en-US" dirty="0"/>
              <a:t>). "Persistence round-trip" means: save to JSON, load it back, confirm nothing was lost.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982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reflection slide. Some honest notes worth calling out for a beginner:</a:t>
            </a:r>
          </a:p>
          <a:p>
            <a:r>
              <a:rPr lang="en-US" dirty="0"/>
              <a:t>"Designing a clean class hierarchy upfront" is hard because you often don't know what subclasses you'll need until you start coding.</a:t>
            </a:r>
          </a:p>
          <a:p>
            <a:r>
              <a:rPr lang="en-US" dirty="0"/>
              <a:t>"Testing shapes the design, not just the bugs" is a genuinely important lesson. When code is hard to test, it's usually because the design is tangled.</a:t>
            </a:r>
          </a:p>
          <a:p>
            <a:r>
              <a:rPr lang="en-US" dirty="0"/>
              <a:t>"Git is a collaboration tool, not a save button" nudges against the habit of just committing everything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without branches.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69423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demo using the cli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5667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5661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Inventory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0">
                <a:solidFill>
                  <a:srgbClr val="F4A261"/>
                </a:solidFill>
                <a:latin typeface="Calibri"/>
              </a:rPr>
              <a:t>A Command-Line Python Application for Stock &amp;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Project 4  |  Team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Olamide Adeboye  •  Alex Omeje  •  Kunle Fatade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we'll cover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Project overview &amp; goals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Team &amp; contributions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Key features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System architecture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Object-oriented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Core modules walkthrough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Data persistence &amp; logging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Exception handling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Testing strategy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Demo, challenges &amp; learnings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Problem, solution, and tech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32004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Small businesses need a simple way to track products.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Manual tracking is error-prone and slow.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Need real-time stock levels and sales history.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Reports (low stock, value) must be on-demand.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31720"/>
            <a:ext cx="32004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CLI inventory manager built in Python.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Add, sell, restock, and remove products.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Search, low-stock alerts, and reports.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Persistent data via JSON + full logging.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2004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Tech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331720"/>
            <a:ext cx="283464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Language: Python 3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Paradigm: Object-Oriented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Storage: JSON files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Logging: logging module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Testing: </a:t>
            </a:r>
            <a:r>
              <a:rPr sz="1400" dirty="0" err="1">
                <a:solidFill>
                  <a:srgbClr val="1F2D3D"/>
                </a:solidFill>
                <a:latin typeface="Calibri"/>
              </a:rPr>
              <a:t>unittest</a:t>
            </a: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Team &amp;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Who built what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Olamide Adeboye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95069"/>
            <a:ext cx="3200400" cy="164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Project lead &amp; architecture</a:t>
            </a:r>
            <a:endParaRPr lang="en-US" sz="1400" dirty="0">
              <a:solidFill>
                <a:srgbClr val="1F2D3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Transaction log module</a:t>
            </a: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r>
              <a:rPr lang="en-US"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lang="en-US" sz="1400" dirty="0">
                <a:solidFill>
                  <a:srgbClr val="1F2D3D"/>
                </a:solidFill>
                <a:latin typeface="Calibri"/>
              </a:rPr>
              <a:t>Data persistence layer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Git workflow &amp; integration</a:t>
            </a:r>
            <a:endParaRPr lang="en-US" sz="1400" dirty="0">
              <a:solidFill>
                <a:srgbClr val="1F2D3D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CLI menu</a:t>
            </a:r>
          </a:p>
          <a:p>
            <a:pPr algn="l">
              <a:spcAft>
                <a:spcPts val="400"/>
              </a:spcAft>
            </a:pP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Alex Omeje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3172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Core Product Class</a:t>
            </a: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</a:t>
            </a:r>
            <a:r>
              <a:rPr lang="en-GB" sz="1400" dirty="0">
                <a:solidFill>
                  <a:srgbClr val="1F2D3D"/>
                </a:solidFill>
              </a:rPr>
              <a:t>Perishable / Digital subclasses</a:t>
            </a:r>
          </a:p>
          <a:p>
            <a:pPr>
              <a:spcAft>
                <a:spcPts val="400"/>
              </a:spcAft>
            </a:pP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endParaRPr lang="en-GB"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321040" y="1642479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400"/>
              </a:spcAft>
            </a:pPr>
            <a:endParaRPr lang="en-GB" dirty="0">
              <a:solidFill>
                <a:srgbClr val="1F2D3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Kunle Fatade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3200400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Custom exceptions &amp; validation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Test suite (26 tests)</a:t>
            </a:r>
          </a:p>
          <a:p>
            <a:pPr algn="l">
              <a:spcAft>
                <a:spcPts val="400"/>
              </a:spcAft>
            </a:pP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B067B0-1A83-32A1-7287-A7621CC7D27C}"/>
              </a:ext>
            </a:extLst>
          </p:cNvPr>
          <p:cNvSpPr txBox="1"/>
          <p:nvPr/>
        </p:nvSpPr>
        <p:spPr>
          <a:xfrm>
            <a:off x="8366760" y="2361808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Core Inventory Class</a:t>
            </a: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Documentation</a:t>
            </a:r>
          </a:p>
          <a:p>
            <a:pPr>
              <a:spcAft>
                <a:spcPts val="400"/>
              </a:spcAft>
            </a:pP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endParaRPr lang="en-GB" sz="1400" dirty="0">
              <a:solidFill>
                <a:srgbClr val="1F2D3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Everything the system can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Add products (standard, perishable, digital)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Sell &amp; restock with validation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Remove products by ID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Search by name or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Low-stock report (configurable threshold)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Stock value report by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Stock summary by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Transaction history with timestamps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Data persistence (JSON auto-save)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Console + file logging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Modules and how they interact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main.py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CLI entry point / menu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inventory.py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Inventory manager class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products.py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Product + subclasses (OOP)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transaction_log.py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Stock movement audit trail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exceptions.py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Custom exception types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data/*.json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Persistent storage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main.py orchestrates the flow  →  Inventory holds Products  →  TransactionLog records every change  →  JSON files persist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Object-Oriented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Inheritance &amp; polymorphism in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2834640" cy="91440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83464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Product (base class)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331720" y="2560320"/>
            <a:ext cx="3749040" cy="640080"/>
          </a:xfrm>
          <a:prstGeom prst="line">
            <a:avLst/>
          </a:prstGeom>
          <a:ln w="19050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68B5EE4-B59D-A5E0-2ACA-501E037C50EA}"/>
              </a:ext>
            </a:extLst>
          </p:cNvPr>
          <p:cNvGrpSpPr/>
          <p:nvPr/>
        </p:nvGrpSpPr>
        <p:grpSpPr>
          <a:xfrm>
            <a:off x="859404" y="3242541"/>
            <a:ext cx="2906202" cy="914400"/>
            <a:chOff x="1371600" y="3860358"/>
            <a:chExt cx="2906202" cy="9144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A046D46-9C8F-B8E3-0F4E-1BAD0A167360}"/>
                </a:ext>
              </a:extLst>
            </p:cNvPr>
            <p:cNvGrpSpPr/>
            <p:nvPr/>
          </p:nvGrpSpPr>
          <p:grpSpPr>
            <a:xfrm>
              <a:off x="1443162" y="3860358"/>
              <a:ext cx="2834640" cy="914400"/>
              <a:chOff x="4663440" y="3200400"/>
              <a:chExt cx="2834640" cy="914400"/>
            </a:xfrm>
          </p:grpSpPr>
          <p:sp>
            <p:nvSpPr>
              <p:cNvPr id="13" name="Rounded Rectangle 12"/>
              <p:cNvSpPr/>
              <p:nvPr/>
            </p:nvSpPr>
            <p:spPr>
              <a:xfrm>
                <a:off x="4663440" y="3200400"/>
                <a:ext cx="2834640" cy="914400"/>
              </a:xfrm>
              <a:prstGeom prst="roundRect">
                <a:avLst/>
              </a:prstGeom>
              <a:solidFill>
                <a:srgbClr val="F4A26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663440" y="3703320"/>
                <a:ext cx="2834640" cy="365760"/>
              </a:xfrm>
              <a:prstGeom prst="rect">
                <a:avLst/>
              </a:prstGeom>
              <a:noFill/>
            </p:spPr>
            <p:txBody>
              <a:bodyPr wrap="square" lIns="45720" tIns="18288" rIns="45720" bIns="18288">
                <a:spAutoFit/>
              </a:bodyPr>
              <a:lstStyle/>
              <a:p>
                <a:pPr algn="ctr"/>
                <a:r>
                  <a:rPr sz="1200" b="0">
                    <a:solidFill>
                      <a:srgbClr val="FFFFFF"/>
                    </a:solidFill>
                    <a:latin typeface="Calibri"/>
                  </a:rPr>
                  <a:t>Has expiry_date; expires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1371600" y="3977640"/>
              <a:ext cx="2834640" cy="365760"/>
            </a:xfrm>
            <a:prstGeom prst="rect">
              <a:avLst/>
            </a:prstGeom>
            <a:noFill/>
          </p:spPr>
          <p:txBody>
            <a:bodyPr wrap="square" lIns="45720" tIns="18288" rIns="45720" bIns="18288">
              <a:spAutoFit/>
            </a:bodyPr>
            <a:lstStyle/>
            <a:p>
              <a:pPr algn="ctr"/>
              <a:r>
                <a:rPr sz="1600" b="1" dirty="0" err="1">
                  <a:solidFill>
                    <a:srgbClr val="FFFFFF"/>
                  </a:solidFill>
                  <a:latin typeface="Calibri"/>
                </a:rPr>
                <a:t>PerishableProduct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  <p:sp>
        <p:nvSpPr>
          <p:cNvPr id="17" name="Rounded Rectangle 16"/>
          <p:cNvSpPr/>
          <p:nvPr/>
        </p:nvSpPr>
        <p:spPr>
          <a:xfrm>
            <a:off x="8426394" y="3223260"/>
            <a:ext cx="2834640" cy="9144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DigitalProduct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0332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Unlimited; download link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2560320"/>
            <a:ext cx="3749040" cy="640080"/>
          </a:xfrm>
          <a:prstGeom prst="line">
            <a:avLst/>
          </a:prstGeom>
          <a:ln w="19050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663440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Encapsulation: validation inside __init__ protects invariants.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Inheritance: subclasses reuse sell(), restock(), to_dict().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Polymorphism: PerishableProduct overrides sell() to check expiry.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Factory method: Product.from_dict() builds the correct subclass.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6C897-92E7-D652-491F-CAF9C728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E4AA62-2863-A07B-22A0-010A58D88C17}"/>
              </a:ext>
            </a:extLst>
          </p:cNvPr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F12EFF-7441-929F-F1D3-9DBE80A3E931}"/>
              </a:ext>
            </a:extLst>
          </p:cNvPr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Product Class Tree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9D1F2-0DA1-86D3-6C9F-7CD3E804621E}"/>
              </a:ext>
            </a:extLst>
          </p:cNvPr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98F018-7716-A6CC-BC6C-919A9A86677E}"/>
              </a:ext>
            </a:extLst>
          </p:cNvPr>
          <p:cNvSpPr txBox="1"/>
          <p:nvPr/>
        </p:nvSpPr>
        <p:spPr>
          <a:xfrm>
            <a:off x="8275320" y="4206240"/>
            <a:ext cx="338328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&lt;&lt; subclass &gt;&gt;</a:t>
            </a:r>
          </a:p>
        </p:txBody>
      </p:sp>
      <p:cxnSp>
        <p:nvCxnSpPr>
          <p:cNvPr id="43" name="Connector 42">
            <a:extLst>
              <a:ext uri="{FF2B5EF4-FFF2-40B4-BE49-F238E27FC236}">
                <a16:creationId xmlns:a16="http://schemas.microsoft.com/office/drawing/2014/main" id="{A537C658-A1F6-4374-F7FD-ED89DA9FA1FC}"/>
              </a:ext>
            </a:extLst>
          </p:cNvPr>
          <p:cNvCxnSpPr/>
          <p:nvPr/>
        </p:nvCxnSpPr>
        <p:spPr>
          <a:xfrm>
            <a:off x="0" y="3806688"/>
            <a:ext cx="0" cy="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>
            <a:extLst>
              <a:ext uri="{FF2B5EF4-FFF2-40B4-BE49-F238E27FC236}">
                <a16:creationId xmlns:a16="http://schemas.microsoft.com/office/drawing/2014/main" id="{8F96736A-E134-2795-EC4B-2E972C82DBDC}"/>
              </a:ext>
            </a:extLst>
          </p:cNvPr>
          <p:cNvCxnSpPr/>
          <p:nvPr/>
        </p:nvCxnSpPr>
        <p:spPr>
          <a:xfrm>
            <a:off x="0" y="3440928"/>
            <a:ext cx="0" cy="36576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>
            <a:extLst>
              <a:ext uri="{FF2B5EF4-FFF2-40B4-BE49-F238E27FC236}">
                <a16:creationId xmlns:a16="http://schemas.microsoft.com/office/drawing/2014/main" id="{423AB4CC-AD28-13E3-9E79-12573FE9B4D4}"/>
              </a:ext>
            </a:extLst>
          </p:cNvPr>
          <p:cNvCxnSpPr/>
          <p:nvPr/>
        </p:nvCxnSpPr>
        <p:spPr>
          <a:xfrm>
            <a:off x="0" y="3806688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>
            <a:extLst>
              <a:ext uri="{FF2B5EF4-FFF2-40B4-BE49-F238E27FC236}">
                <a16:creationId xmlns:a16="http://schemas.microsoft.com/office/drawing/2014/main" id="{5495A4F7-893E-7D07-C4AF-A1ABA89C5AFD}"/>
              </a:ext>
            </a:extLst>
          </p:cNvPr>
          <p:cNvCxnSpPr/>
          <p:nvPr/>
        </p:nvCxnSpPr>
        <p:spPr>
          <a:xfrm>
            <a:off x="0" y="3806688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E56D2DA6-EDBD-43E4-7FAE-3681CD5DEDAA}"/>
              </a:ext>
            </a:extLst>
          </p:cNvPr>
          <p:cNvCxnSpPr/>
          <p:nvPr/>
        </p:nvCxnSpPr>
        <p:spPr>
          <a:xfrm>
            <a:off x="0" y="3806688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A84E6DD-5F0E-9740-AC60-08969DA6A1BC}"/>
              </a:ext>
            </a:extLst>
          </p:cNvPr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A51D73-CC5D-AB60-EA38-409D3E96F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3C42AC-7A9F-A73D-ABD8-D00873FBE8B3}"/>
              </a:ext>
            </a:extLst>
          </p:cNvPr>
          <p:cNvSpPr txBox="1"/>
          <p:nvPr/>
        </p:nvSpPr>
        <p:spPr>
          <a:xfrm>
            <a:off x="160020" y="556590"/>
            <a:ext cx="3388250" cy="5293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 dirty="0">
                <a:solidFill>
                  <a:srgbClr val="0E3B66"/>
                </a:solidFill>
                <a:latin typeface="Calibri"/>
              </a:rPr>
              <a:t>Product Class Tree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0D9284-C3B6-A871-4359-7669D3E176E2}"/>
              </a:ext>
            </a:extLst>
          </p:cNvPr>
          <p:cNvSpPr/>
          <p:nvPr/>
        </p:nvSpPr>
        <p:spPr>
          <a:xfrm>
            <a:off x="838200" y="12039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5236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Inventory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The heart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Stores products in a dict keyed by product_id.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add_product / remove_product / find_product.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sell_product &amp; restock_product update stock atomically.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search() matches name substring or exact category.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low_stock_report() uses a generator (memory efficient).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stock_summary() &amp; stock_value_report() by category.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Auto-saves to JSON on every mutation.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5029200" cy="4572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E9EF"/>
                </a:solidFill>
                <a:latin typeface="Consolas"/>
              </a:rPr>
              <a:t>def low_stock_report(self):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for product in self.products.values():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if (not isinstance(product, DigitalProduct)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    and product.quantity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    &lt; self.low_stock_threshold):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yield product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# generator -&gt; lazy, works on large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Transaction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Every stock movement, timestamped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Records add / sell / restock / remove events.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Each entry stores timestamp, action, product, qty.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Auto-saves to data/log.json after each record.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summary() prints full history or filters by product.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Supports auditing and future analytics.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5029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783080"/>
            <a:ext cx="46634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0E3B66"/>
                </a:solidFill>
                <a:latin typeface="Calibri"/>
              </a:rPr>
              <a:t>Example log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663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2D3D"/>
                </a:solidFill>
                <a:latin typeface="Consolas"/>
              </a:rPr>
              <a:t>{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"timestamp": "2026-04-23T14:02:11",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"action":    "sale",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"product_id":   "P001",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"product_name": "Milk",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"quantity":  3,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"details":   "Product sold"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Exceptions &amp; 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Defensive programming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Custom Exceptions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OutOfStockError - not enough units to sell.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InvalidProductError - invalid data or missing ID.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DuplicateProductError - product ID collision.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Caught centrally in main.py for clean UX.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Validation lives in __init__ - fail fast.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Logging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Single named logger: 'InventoryManager'.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Console handler: INFO and above.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File handler (logs/inventory.log): DEBUG and above.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Every add / sell / restock is logged.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Warnings for low stock and corrupted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Data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JSON-backed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Two JSON files: inventory.json and log.json.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save_data() writes after every mutation.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load_data() rebuilds objects via from_dict().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Factory method returns correct subclass.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Corrupted entries are skipped with a warning.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Graceful fallback if the file is missing.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0E3B66"/>
                </a:solidFill>
                <a:latin typeface="Calibri"/>
              </a:rPr>
              <a:t>Serialization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28600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Python Objects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514600"/>
            <a:ext cx="155448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27889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1F2D3D"/>
                </a:solidFill>
                <a:latin typeface="Calibri"/>
              </a:rPr>
              <a:t>to_dict() 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28600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0" y="25603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 File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393192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42062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Python Objects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160520"/>
            <a:ext cx="155448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44348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1F2D3D"/>
                </a:solidFill>
                <a:latin typeface="Calibri"/>
              </a:rPr>
              <a:t>← from_dict()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93192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42062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CLI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11-option menu, one main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4572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   Inventory Management System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1.  Add a new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2.  View all products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3.  Search products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4.  Sell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5.  Restock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6.  Remove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7.  Low stock report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8.  Stock value report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9.  Stock summary by category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10. Transaction history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11. Save and exit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Enter your choice (1-11): 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Test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26 unit tests across 4 test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TestProduct: validation, sell, restock, to/from dict.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TestPerishable: expiry checks, invalid formats.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TestDigital: download link, no stock decrement.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TestInventory: add, search, reports, save/load.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TestTransactionLog: record and persistence.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Run: python -m unittest discover tests -v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45920"/>
            <a:ext cx="1508760" cy="210312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1645920"/>
            <a:ext cx="1508760" cy="210312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Test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1645920"/>
            <a:ext cx="1508760" cy="210312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Modules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931920"/>
            <a:ext cx="49377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0" y="406908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Coverage 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61772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All three product types exercised.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Happy paths AND exception paths.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Persistence round-trip verified.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Challenges &amp; Learnings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 took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en-US" b="1" dirty="0">
                <a:solidFill>
                  <a:srgbClr val="0E3B66"/>
                </a:solidFill>
              </a:rPr>
            </a:br>
            <a:br>
              <a:rPr lang="en-US" b="1" dirty="0">
                <a:solidFill>
                  <a:srgbClr val="0E3B66"/>
                </a:solidFill>
              </a:rPr>
            </a:br>
            <a:r>
              <a:rPr lang="en-US" b="1" dirty="0">
                <a:solidFill>
                  <a:srgbClr val="0E3B66"/>
                </a:solidFill>
              </a:rPr>
              <a:t>O</a:t>
            </a:r>
            <a:r>
              <a:rPr lang="en-GB" b="1" dirty="0" err="1">
                <a:solidFill>
                  <a:srgbClr val="0E3B66"/>
                </a:solidFill>
              </a:rPr>
              <a:t>pportunities</a:t>
            </a:r>
            <a:endParaRPr lang="en-GB" b="1" dirty="0">
              <a:solidFill>
                <a:srgbClr val="0E3B66"/>
              </a:solidFill>
            </a:endParaRPr>
          </a:p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F4A261"/>
                </a:solidFill>
              </a:rPr>
              <a:t>■  </a:t>
            </a:r>
            <a:r>
              <a:rPr lang="en-US" sz="1400" dirty="0">
                <a:solidFill>
                  <a:srgbClr val="1F2D3D"/>
                </a:solidFill>
                <a:latin typeface="Calibri"/>
              </a:rPr>
              <a:t>Building a proper graphical interface for this with good UI and UX.</a:t>
            </a:r>
          </a:p>
          <a:p>
            <a:endParaRPr lang="en-GB" b="1" dirty="0">
              <a:solidFill>
                <a:srgbClr val="0E3B66"/>
              </a:solidFill>
            </a:endParaRPr>
          </a:p>
          <a:p>
            <a:endParaRPr lang="en-GB" b="1" dirty="0">
              <a:solidFill>
                <a:srgbClr val="0E3B66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 dirty="0">
                <a:solidFill>
                  <a:srgbClr val="0E3B66"/>
                </a:solidFill>
                <a:latin typeface="Calibri"/>
              </a:rP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5029200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Designing a clean class hierarchy up</a:t>
            </a:r>
            <a:r>
              <a:rPr lang="en-US" sz="1400" dirty="0">
                <a:solidFill>
                  <a:srgbClr val="1F2D3D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D3D"/>
                </a:solidFill>
                <a:latin typeface="Calibri"/>
              </a:rPr>
              <a:t>fron</a:t>
            </a:r>
            <a:r>
              <a:rPr lang="en-GB" sz="1400" dirty="0">
                <a:solidFill>
                  <a:srgbClr val="1F2D3D"/>
                </a:solidFill>
                <a:latin typeface="Calibri"/>
              </a:rPr>
              <a:t>t.</a:t>
            </a:r>
          </a:p>
          <a:p>
            <a:pPr algn="l"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  <a:latin typeface="Calibri"/>
              </a:rPr>
              <a:t>■ </a:t>
            </a:r>
            <a:r>
              <a:rPr lang="en-GB" sz="140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Team collaboration across different work schedule  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Coordinating Git branches across the team.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What We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5029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OOP: inheritance, polymorphism, factory methods.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Testing shapes the design, not just the bugs.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Logging is documentation for future-you.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Git is a collaboration tool, not a save button.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How to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Get started in two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2286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A7F3D0"/>
                </a:solidFill>
                <a:latin typeface="Consolas"/>
              </a:rPr>
              <a:t>$ python main.py              # launch the application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A7F3D0"/>
                </a:solidFill>
                <a:latin typeface="Consolas"/>
              </a:rPr>
              <a:t>$ python -m unittest discover tests -v   # run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Python 3.x only - no external runtime dependencies required.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First run creates data/ and logs/ folders automatically.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Choose option 11 from the menu to save and exit safely.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5661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7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400" b="0">
                <a:solidFill>
                  <a:srgbClr val="F4A261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Olamide Adeboye  •  Alex Omeje  •  Kunle Fatade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4307</Words>
  <Application>Microsoft Office PowerPoint</Application>
  <PresentationFormat>Widescreen</PresentationFormat>
  <Paragraphs>361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Olamide Adeboye</dc:creator>
  <cp:keywords/>
  <dc:description>generated using python-pptx</dc:description>
  <cp:lastModifiedBy>Olamide Adeboye</cp:lastModifiedBy>
  <cp:revision>2</cp:revision>
  <dcterms:created xsi:type="dcterms:W3CDTF">2013-01-27T09:14:16Z</dcterms:created>
  <dcterms:modified xsi:type="dcterms:W3CDTF">2026-04-25T07:26:01Z</dcterms:modified>
  <cp:category/>
</cp:coreProperties>
</file>