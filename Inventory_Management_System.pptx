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307E88-4362-4B6F-90E7-4D3BF291939A}" v="17" dt="2026-04-23T16:52:28.5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59608" autoAdjust="0"/>
  </p:normalViewPr>
  <p:slideViewPr>
    <p:cSldViewPr snapToGrid="0" snapToObjects="1">
      <p:cViewPr>
        <p:scale>
          <a:sx n="77" d="100"/>
          <a:sy n="77" d="100"/>
        </p:scale>
        <p:origin x="91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49FE8-59AD-4B3E-B77C-CD46C2740DFC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76175B-8421-41F3-9CFB-7E67C30300B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1912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"Command-line" means the program runs in a terminal window where you type numbers to pick options, rather than clicking buttons in a graphical app.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29938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frames </a:t>
            </a:r>
            <a:r>
              <a:rPr lang="en-US" b="1" dirty="0"/>
              <a:t>why</a:t>
            </a:r>
            <a:r>
              <a:rPr lang="en-US" dirty="0"/>
              <a:t> the project exists. Small businesses track products on paper or spreadsheets, which is slow and error-prone. The team's answer is a Python program that adds, sells, restocks, and removes products, plus generates reports.</a:t>
            </a:r>
          </a:p>
          <a:p>
            <a:r>
              <a:rPr lang="en-US" dirty="0"/>
              <a:t>The </a:t>
            </a:r>
            <a:r>
              <a:rPr lang="en-US" b="1" dirty="0"/>
              <a:t>tech stack</a:t>
            </a:r>
            <a:r>
              <a:rPr lang="en-US" dirty="0"/>
              <a:t> is the list of tools used:</a:t>
            </a:r>
          </a:p>
          <a:p>
            <a:r>
              <a:rPr lang="en-US" b="1" dirty="0"/>
              <a:t>Python 3</a:t>
            </a:r>
            <a:r>
              <a:rPr lang="en-US" dirty="0"/>
              <a:t> is the language.</a:t>
            </a:r>
          </a:p>
          <a:p>
            <a:r>
              <a:rPr lang="en-US" b="1" dirty="0"/>
              <a:t>Object-Oriented</a:t>
            </a:r>
            <a:r>
              <a:rPr lang="en-US" dirty="0"/>
              <a:t> means the code is </a:t>
            </a:r>
            <a:r>
              <a:rPr lang="en-US" dirty="0" err="1"/>
              <a:t>organised</a:t>
            </a:r>
            <a:r>
              <a:rPr lang="en-US" dirty="0"/>
              <a:t> around "objects" like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</a:t>
            </a:r>
            <a:r>
              <a:rPr lang="en-US" dirty="0"/>
              <a:t>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</a:t>
            </a:r>
            <a:r>
              <a:rPr lang="en-US" dirty="0"/>
              <a:t> (you can see these as classes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products.py</a:t>
            </a:r>
            <a:r>
              <a:rPr lang="en-US" dirty="0"/>
              <a:t>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).</a:t>
            </a:r>
          </a:p>
          <a:p>
            <a:r>
              <a:rPr lang="en-US" b="1" dirty="0"/>
              <a:t>JSON files</a:t>
            </a:r>
            <a:r>
              <a:rPr lang="en-US" dirty="0"/>
              <a:t> store the data on disk so it survives after the program closes. You can see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 writing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inventory.json</a:t>
            </a:r>
            <a:r>
              <a:rPr lang="en-US" dirty="0"/>
              <a:t> in its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save_data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method.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logging</a:t>
            </a:r>
            <a:r>
              <a:rPr lang="en-US" b="1" dirty="0"/>
              <a:t> module</a:t>
            </a:r>
            <a:r>
              <a:rPr lang="en-US" dirty="0"/>
              <a:t> records what the program does, and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unittest</a:t>
            </a:r>
            <a:r>
              <a:rPr lang="en-US" dirty="0"/>
              <a:t> is Python's built-in testing framework.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61323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checklist of what the program can do. Each feature maps directly to code:</a:t>
            </a:r>
          </a:p>
          <a:p>
            <a:r>
              <a:rPr lang="en-US" dirty="0"/>
              <a:t>"Sell &amp; restock with validation" is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inventory.sell_product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inventory.restock_product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.</a:t>
            </a:r>
          </a:p>
          <a:p>
            <a:r>
              <a:rPr lang="en-US" dirty="0"/>
              <a:t>"Low-stock report (configurable threshold)" is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low_stock_report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, and the threshold is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low_stock_threshold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=5</a:t>
            </a:r>
            <a:r>
              <a:rPr lang="en-US" dirty="0"/>
              <a:t> parameter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Inventory.__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dirty="0"/>
              <a:t>.</a:t>
            </a:r>
          </a:p>
          <a:p>
            <a:r>
              <a:rPr lang="en-US" dirty="0"/>
              <a:t>"Data persistence (JSON auto-save)" is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save_data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call at the end of nearly every method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</a:t>
            </a:r>
            <a:r>
              <a:rPr lang="en-US" dirty="0"/>
              <a:t>.</a:t>
            </a:r>
          </a:p>
          <a:p>
            <a:r>
              <a:rPr lang="en-US" dirty="0"/>
              <a:t>"Console + file logging" is set up at the top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 where the logger gets two handlers.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60025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</a:t>
            </a:r>
            <a:r>
              <a:rPr lang="en-US" b="1" dirty="0"/>
              <a:t>six files</a:t>
            </a:r>
            <a:r>
              <a:rPr lang="en-US" dirty="0"/>
              <a:t> and how they talk to each other. In Python, each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</a:t>
            </a:r>
            <a:r>
              <a:rPr lang="en-US" dirty="0"/>
              <a:t> file is a </a:t>
            </a:r>
            <a:r>
              <a:rPr lang="en-US" b="1" dirty="0"/>
              <a:t>module</a:t>
            </a:r>
            <a:r>
              <a:rPr lang="en-US" dirty="0"/>
              <a:t>. Splitting code into multiple modules keeps each one focused on one job: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 is the entry point (you run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 main.py</a:t>
            </a:r>
            <a:r>
              <a:rPr lang="en-US" dirty="0"/>
              <a:t> and it starts here).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 holds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</a:t>
            </a:r>
            <a:r>
              <a:rPr lang="en-US" dirty="0"/>
              <a:t> class that manages a collection of products.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products.py</a:t>
            </a:r>
            <a:r>
              <a:rPr lang="en-US" dirty="0"/>
              <a:t> defines what a product is (you don't have this file in the uploads, but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 imports from it).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transaction_log.py</a:t>
            </a:r>
            <a:r>
              <a:rPr lang="en-US" dirty="0"/>
              <a:t> records every stock change with a timestamp.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exceptions.py</a:t>
            </a:r>
            <a:r>
              <a:rPr lang="en-US" dirty="0"/>
              <a:t> defines custom error types.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data/*.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json</a:t>
            </a:r>
            <a:r>
              <a:rPr lang="en-US" dirty="0"/>
              <a:t> are the files on disk where state is saved.</a:t>
            </a:r>
          </a:p>
          <a:p>
            <a:r>
              <a:rPr lang="en-US" dirty="0"/>
              <a:t>The arrow at the bottom shows the flow: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 runs the menu, calls methods on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</a:t>
            </a:r>
            <a:r>
              <a:rPr lang="en-US" dirty="0"/>
              <a:t>, which holds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</a:t>
            </a:r>
            <a:r>
              <a:rPr lang="en-US" dirty="0"/>
              <a:t> objects,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TransactionLog</a:t>
            </a:r>
            <a:r>
              <a:rPr lang="en-US" dirty="0"/>
              <a:t> records every change.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7942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introduces four key OOP concepts using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</a:t>
            </a:r>
            <a:r>
              <a:rPr lang="en-US" dirty="0"/>
              <a:t> family as an example:</a:t>
            </a:r>
          </a:p>
          <a:p>
            <a:r>
              <a:rPr lang="en-US" b="1" dirty="0"/>
              <a:t>Encapsulation</a:t>
            </a:r>
            <a:r>
              <a:rPr lang="en-US" dirty="0"/>
              <a:t>: validation happens inside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dirty="0"/>
              <a:t>. That means when you try to create a bad product (say, negative price), the class refuses right away. The data and the rules that protect it live together.</a:t>
            </a:r>
          </a:p>
          <a:p>
            <a:r>
              <a:rPr lang="en-US" b="1" dirty="0"/>
              <a:t>Inheritance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PerishableProduct</a:t>
            </a:r>
            <a:r>
              <a:rPr lang="en-US" dirty="0"/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DigitalProduct</a:t>
            </a:r>
            <a:r>
              <a:rPr lang="en-US" dirty="0"/>
              <a:t> both inherit from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</a:t>
            </a:r>
            <a:r>
              <a:rPr lang="en-US" dirty="0"/>
              <a:t>, so they automatically get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sell()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restock()</a:t>
            </a:r>
            <a:r>
              <a:rPr lang="en-US" dirty="0"/>
              <a:t>,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without rewriting them.</a:t>
            </a:r>
          </a:p>
          <a:p>
            <a:r>
              <a:rPr lang="en-US" b="1" dirty="0"/>
              <a:t>Polymorphism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PerishableProduct</a:t>
            </a:r>
            <a:r>
              <a:rPr lang="en-US" dirty="0"/>
              <a:t> has its own version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sell()</a:t>
            </a:r>
            <a:r>
              <a:rPr lang="en-US" dirty="0"/>
              <a:t> that first checks if the item has expired. Same method name, different </a:t>
            </a:r>
            <a:r>
              <a:rPr lang="en-US" dirty="0" err="1"/>
              <a:t>behaviour</a:t>
            </a:r>
            <a:r>
              <a:rPr lang="en-US" dirty="0"/>
              <a:t> depending on the type.</a:t>
            </a:r>
          </a:p>
          <a:p>
            <a:r>
              <a:rPr lang="en-US" b="1" dirty="0"/>
              <a:t>Factory method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Product.from_dict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is a </a:t>
            </a:r>
            <a:r>
              <a:rPr lang="en-US" dirty="0" err="1"/>
              <a:t>classmethod</a:t>
            </a:r>
            <a:r>
              <a:rPr lang="en-US" dirty="0"/>
              <a:t> that reads a saved JSON record, looks at its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"type"</a:t>
            </a:r>
            <a:r>
              <a:rPr lang="en-US" dirty="0"/>
              <a:t> field, and returns the matching subclass. You can see this being used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inventory.load_data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where it loops through JSON entries and calls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Product.from_dict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(item)</a:t>
            </a:r>
            <a:r>
              <a:rPr lang="en-US" dirty="0"/>
              <a:t>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11614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UML diagram</a:t>
            </a:r>
            <a:r>
              <a:rPr lang="en-US" dirty="0"/>
              <a:t>, which is a standard way to draw classes as boxes. Each box lists attributes (data) on top and methods (actions) below.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en-US" dirty="0"/>
              <a:t> sign means "public" (accessible from outside the class).</a:t>
            </a:r>
          </a:p>
          <a:p>
            <a:r>
              <a:rPr lang="en-US" dirty="0"/>
              <a:t>The base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</a:t>
            </a:r>
            <a:r>
              <a:rPr lang="en-US" dirty="0"/>
              <a:t> has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product_id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price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quantity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category</a:t>
            </a:r>
            <a:r>
              <a:rPr lang="en-US" dirty="0"/>
              <a:t>, plus methods like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sell(qty)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restock(qty)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,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(data)</a:t>
            </a:r>
            <a:r>
              <a:rPr lang="en-US" dirty="0"/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PerishableProduct</a:t>
            </a:r>
            <a:r>
              <a:rPr lang="en-US" dirty="0"/>
              <a:t> </a:t>
            </a:r>
            <a:r>
              <a:rPr lang="en-US" b="1" dirty="0"/>
              <a:t>adds</a:t>
            </a:r>
            <a:r>
              <a:rPr lang="en-US" dirty="0"/>
              <a:t> an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expiry_date</a:t>
            </a:r>
            <a:r>
              <a:rPr lang="en-US" dirty="0"/>
              <a:t> and </a:t>
            </a:r>
            <a:r>
              <a:rPr lang="en-US" b="1" dirty="0"/>
              <a:t>overrides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sell()</a:t>
            </a:r>
            <a:r>
              <a:rPr lang="en-US" dirty="0"/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. "Override" means replacing the parent's version with a new one.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DigitalProduct</a:t>
            </a:r>
            <a:r>
              <a:rPr lang="en-US" dirty="0"/>
              <a:t> </a:t>
            </a:r>
            <a:r>
              <a:rPr lang="en-US" b="1" dirty="0"/>
              <a:t>adds</a:t>
            </a:r>
            <a:r>
              <a:rPr lang="en-US" dirty="0"/>
              <a:t> a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download_link</a:t>
            </a:r>
            <a:r>
              <a:rPr lang="en-US" dirty="0"/>
              <a:t>, sets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quantity = 0</a:t>
            </a:r>
            <a:r>
              <a:rPr lang="en-US" dirty="0"/>
              <a:t> (infinite copies available since it's downloadable), and overrides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sell()</a:t>
            </a:r>
            <a:r>
              <a:rPr lang="en-US" dirty="0"/>
              <a:t>.</a:t>
            </a:r>
          </a:p>
          <a:p>
            <a:r>
              <a:rPr lang="en-US" dirty="0"/>
              <a:t>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"type"</a:t>
            </a:r>
            <a:r>
              <a:rPr lang="en-US" dirty="0"/>
              <a:t> field in JSON (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"standard"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"perishable"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"digital"</a:t>
            </a:r>
            <a:r>
              <a:rPr lang="en-US" dirty="0"/>
              <a:t>) is how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knows which subclass to build when loading data.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03071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central manager. Key points, all visible in your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inventory.py</a:t>
            </a:r>
            <a:r>
              <a:rPr lang="en-US" dirty="0"/>
              <a:t>:</a:t>
            </a:r>
          </a:p>
          <a:p>
            <a:r>
              <a:rPr lang="en-US" dirty="0"/>
              <a:t>Products are stored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self.products</a:t>
            </a:r>
            <a:r>
              <a:rPr lang="en-US" dirty="0"/>
              <a:t>, a </a:t>
            </a:r>
            <a:r>
              <a:rPr lang="en-US" b="1" dirty="0"/>
              <a:t>dictionary</a:t>
            </a:r>
            <a:r>
              <a:rPr lang="en-US" dirty="0"/>
              <a:t> keyed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product_id</a:t>
            </a:r>
            <a:r>
              <a:rPr lang="en-US" dirty="0"/>
              <a:t>. Dictionaries give fast lookup by key, which is why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find_product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can go straight to the product without searching.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sell_product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restock_product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</a:t>
            </a:r>
            <a:r>
              <a:rPr lang="en-US" b="1" dirty="0"/>
              <a:t>update stock atomically</a:t>
            </a:r>
            <a:r>
              <a:rPr lang="en-US" dirty="0"/>
              <a:t>, meaning one complete operation that either fully succeeds or raises an error.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search()</a:t>
            </a:r>
            <a:r>
              <a:rPr lang="en-US" dirty="0"/>
              <a:t> uses a </a:t>
            </a:r>
            <a:r>
              <a:rPr lang="en-US" b="1" dirty="0"/>
              <a:t>list comprehension</a:t>
            </a:r>
            <a:r>
              <a:rPr lang="en-US" dirty="0"/>
              <a:t> (the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[product for product in ... if ...]</a:t>
            </a:r>
            <a:r>
              <a:rPr lang="en-US" dirty="0"/>
              <a:t> pattern) to filter products by name substring or category.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low_stock_report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is a </a:t>
            </a:r>
            <a:r>
              <a:rPr lang="en-US" b="1" dirty="0"/>
              <a:t>generator</a:t>
            </a:r>
            <a:r>
              <a:rPr lang="en-US" dirty="0"/>
              <a:t>, shown in the code box on the slide. Instead of building a full list in memory,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yield</a:t>
            </a:r>
            <a:r>
              <a:rPr lang="en-US" dirty="0"/>
              <a:t> hands back one product at a time. For a shop with 100,000 products, this matters: you only hold one in memory at once.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stock_summary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stock_value_report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return dictionaries grouping products by category.</a:t>
            </a:r>
          </a:p>
          <a:p>
            <a:r>
              <a:rPr lang="en-US" dirty="0"/>
              <a:t>"Auto-saves on every mutation" is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self.save_data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call at the end of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add_product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remove_product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sell_product</a:t>
            </a:r>
            <a:r>
              <a:rPr lang="en-US" dirty="0"/>
              <a:t>,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restock_product</a:t>
            </a:r>
            <a:r>
              <a:rPr lang="en-US" dirty="0"/>
              <a:t>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11641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from inventory,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TransactionLog</a:t>
            </a:r>
            <a:r>
              <a:rPr lang="en-US" dirty="0"/>
              <a:t>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transaction_log.py</a:t>
            </a:r>
            <a:r>
              <a:rPr lang="en-US" dirty="0"/>
              <a:t> keeps an </a:t>
            </a:r>
            <a:r>
              <a:rPr lang="en-US" b="1" dirty="0"/>
              <a:t>audit trail</a:t>
            </a:r>
            <a:r>
              <a:rPr lang="en-US" dirty="0"/>
              <a:t>. Every time something is added, sold, restocked, or removed,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log.record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r>
              <a:rPr lang="en-US" dirty="0"/>
              <a:t> appends a new entry.</a:t>
            </a:r>
          </a:p>
          <a:p>
            <a:r>
              <a:rPr lang="en-US" dirty="0"/>
              <a:t>The example JSON entry on the slide matches exactly what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record()</a:t>
            </a:r>
            <a:r>
              <a:rPr lang="en-US" dirty="0"/>
              <a:t> method builds: a dictionary with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timestamp</a:t>
            </a:r>
            <a:r>
              <a:rPr lang="en-US" dirty="0"/>
              <a:t> (produced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datetime.now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isoformat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),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action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product_id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product_name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quantity</a:t>
            </a:r>
            <a:r>
              <a:rPr lang="en-US" dirty="0"/>
              <a:t>,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details</a:t>
            </a:r>
            <a:r>
              <a:rPr lang="en-US" dirty="0"/>
              <a:t>. It's saved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log.json</a:t>
            </a:r>
            <a:r>
              <a:rPr lang="en-US" dirty="0"/>
              <a:t> after every record so nothing is lost if the program crashes.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summary()</a:t>
            </a:r>
            <a:r>
              <a:rPr lang="en-US" dirty="0"/>
              <a:t> prints the whole history, or just entries for one product if you pass a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product_id</a:t>
            </a:r>
            <a:r>
              <a:rPr lang="en-US" dirty="0"/>
              <a:t>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74795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Custom exceptions</a:t>
            </a:r>
            <a:r>
              <a:rPr lang="en-US" dirty="0"/>
              <a:t> are user-defined error types. Your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exceptions.py</a:t>
            </a:r>
            <a:r>
              <a:rPr lang="en-US" dirty="0"/>
              <a:t> has three: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OutOfStockError</a:t>
            </a:r>
            <a:r>
              <a:rPr lang="en-US" dirty="0"/>
              <a:t> (raised when someone tries to sell more units than exist).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InvalidProductError</a:t>
            </a:r>
            <a:r>
              <a:rPr lang="en-US" dirty="0"/>
              <a:t> (bad data or a missing ID).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DuplicateProductError</a:t>
            </a:r>
            <a:r>
              <a:rPr lang="en-US" dirty="0"/>
              <a:t> (adding a product whose ID already exists, raised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inventory.add_product</a:t>
            </a:r>
            <a:r>
              <a:rPr lang="en-US" dirty="0"/>
              <a:t>).</a:t>
            </a:r>
            <a:br>
              <a:rPr lang="en-US" dirty="0"/>
            </a:br>
            <a:r>
              <a:rPr lang="en-US" dirty="0"/>
              <a:t>They're </a:t>
            </a:r>
            <a:r>
              <a:rPr lang="en-US" b="1" dirty="0"/>
              <a:t>caught centrally in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: look at the bottom of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 True</a:t>
            </a:r>
            <a:r>
              <a:rPr lang="en-US" dirty="0"/>
              <a:t> loop where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DuplicateProductError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 e:</a:t>
            </a:r>
            <a:r>
              <a:rPr lang="en-US" dirty="0"/>
              <a:t> and friends catch each one and print a clean error message instead of crashing. "Fail fast" means validate early (in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__</a:t>
            </a:r>
            <a:r>
              <a:rPr lang="en-US" dirty="0"/>
              <a:t>) so bugs surface immediately.</a:t>
            </a:r>
          </a:p>
          <a:p>
            <a:r>
              <a:rPr lang="en-US" b="1" dirty="0"/>
              <a:t>Logging strategy</a:t>
            </a:r>
            <a:r>
              <a:rPr lang="en-US" dirty="0"/>
              <a:t> is set up at the top of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:</a:t>
            </a:r>
          </a:p>
          <a:p>
            <a:r>
              <a:rPr lang="en-US" dirty="0"/>
              <a:t>One logger named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InventoryManager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en-US" dirty="0"/>
              <a:t>, shared across every module (that's why every file has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logger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logging.getLogger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InventoryManager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  <a:r>
              <a:rPr lang="en-US" dirty="0"/>
              <a:t>).</a:t>
            </a:r>
          </a:p>
          <a:p>
            <a:r>
              <a:rPr lang="en-US" dirty="0"/>
              <a:t>The </a:t>
            </a:r>
            <a:r>
              <a:rPr lang="en-US" b="1" dirty="0"/>
              <a:t>console handler</a:t>
            </a:r>
            <a:r>
              <a:rPr lang="en-US" dirty="0"/>
              <a:t> only shows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INFO</a:t>
            </a:r>
            <a:r>
              <a:rPr lang="en-US" dirty="0"/>
              <a:t> and above (informational messages, warnings, errors).</a:t>
            </a:r>
          </a:p>
          <a:p>
            <a:r>
              <a:rPr lang="en-US" dirty="0"/>
              <a:t>The </a:t>
            </a:r>
            <a:r>
              <a:rPr lang="en-US" b="1" dirty="0"/>
              <a:t>file handler</a:t>
            </a:r>
            <a:r>
              <a:rPr lang="en-US" dirty="0"/>
              <a:t> writes everything from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DEBUG</a:t>
            </a:r>
            <a:r>
              <a:rPr lang="en-US" dirty="0"/>
              <a:t> upwards into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logs/inventory.log</a:t>
            </a:r>
            <a:r>
              <a:rPr lang="en-US" dirty="0"/>
              <a:t>, so you have a detailed trace on disk even when the console stays clean.</a:t>
            </a:r>
          </a:p>
          <a:p>
            <a:endParaRPr lang="en-US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937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Explains how Python objects survive between runs. The diagram shows a round trip:</a:t>
            </a:r>
          </a:p>
          <a:p>
            <a:r>
              <a:rPr lang="en-US" b="1" dirty="0"/>
              <a:t>Save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Inventory.save_data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calls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on every product to turn it into a plain dictionary, then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json.dump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writes the list of dictionaries to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inventory.json</a:t>
            </a:r>
            <a:r>
              <a:rPr lang="en-US" dirty="0"/>
              <a:t>.</a:t>
            </a:r>
          </a:p>
          <a:p>
            <a:r>
              <a:rPr lang="en-US" b="1" dirty="0"/>
              <a:t>Load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opens the file, calls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json.load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to parse it, then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Product.from_dict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(item)</a:t>
            </a:r>
            <a:r>
              <a:rPr lang="en-US" dirty="0"/>
              <a:t> rebuilds the correct subclass for each entry.</a:t>
            </a:r>
          </a:p>
          <a:p>
            <a:r>
              <a:rPr lang="en-US" dirty="0"/>
              <a:t>The slide highlights two defensive touches that you can see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load_data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:</a:t>
            </a:r>
          </a:p>
          <a:p>
            <a:r>
              <a:rPr lang="en-US" b="1" dirty="0"/>
              <a:t>Corrupted entries are skipped with a warning</a:t>
            </a:r>
            <a:r>
              <a:rPr lang="en-US" dirty="0"/>
              <a:t> rather than crashing the whole load (the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try/except</a:t>
            </a:r>
            <a:r>
              <a:rPr lang="en-US" dirty="0"/>
              <a:t> around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Product.from_dict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(item)</a:t>
            </a:r>
            <a:r>
              <a:rPr lang="en-US" dirty="0"/>
              <a:t>).</a:t>
            </a:r>
          </a:p>
          <a:p>
            <a:r>
              <a:rPr lang="en-US" b="1" dirty="0"/>
              <a:t>Graceful fallback</a:t>
            </a:r>
            <a:r>
              <a:rPr lang="en-US" dirty="0"/>
              <a:t> if the file is missing (the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 not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os.path.exists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self.data_file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): return</a:t>
            </a:r>
            <a:r>
              <a:rPr lang="en-US" dirty="0"/>
              <a:t> check at the start).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9656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screenshot of what the user sees. This is the menu printed by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display_menu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main.py</a:t>
            </a:r>
            <a:r>
              <a:rPr lang="en-US" dirty="0"/>
              <a:t>, and below it is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input("Enter your choice (1-11): ")</a:t>
            </a:r>
            <a:r>
              <a:rPr lang="en-US" dirty="0"/>
              <a:t> prompt. The program is a big loop: show menu, read a number, do the matching action, repeat until the user picks option 11.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7799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Unit tests</a:t>
            </a:r>
            <a:r>
              <a:rPr lang="en-US" dirty="0"/>
              <a:t> are small programs that check your code works. The team wrote 26 of them, grouped into test classes by topic: one for each product type, one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Inventory</a:t>
            </a:r>
            <a:r>
              <a:rPr lang="en-US" dirty="0"/>
              <a:t>, one for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TransactionLog</a:t>
            </a:r>
            <a:r>
              <a:rPr lang="en-US" dirty="0"/>
              <a:t>.</a:t>
            </a:r>
          </a:p>
          <a:p>
            <a:r>
              <a:rPr lang="en-US" dirty="0"/>
              <a:t>The command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 -m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unittest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discover tests -v</a:t>
            </a:r>
            <a:r>
              <a:rPr lang="en-US" dirty="0"/>
              <a:t> finds every test file in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tests/</a:t>
            </a:r>
            <a:r>
              <a:rPr lang="en-US" dirty="0"/>
              <a:t> folder and runs them.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-v</a:t>
            </a:r>
            <a:r>
              <a:rPr lang="en-US" dirty="0"/>
              <a:t> flag means verbose output (shows each test name).</a:t>
            </a:r>
          </a:p>
          <a:p>
            <a:r>
              <a:rPr lang="en-US" dirty="0"/>
              <a:t>"Happy paths AND exception paths" means they test both normal use (selling a product that exists) and error cases (selling more than available, which should raise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OutOfStockError</a:t>
            </a:r>
            <a:r>
              <a:rPr lang="en-US" dirty="0"/>
              <a:t>). "Persistence round-trip" means: save to JSON, load it back, confirm nothing was lost.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69826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reflection slide. Some honest notes worth calling out for a beginner:</a:t>
            </a:r>
          </a:p>
          <a:p>
            <a:r>
              <a:rPr lang="en-US" dirty="0"/>
              <a:t>"Designing a clean class hierarchy upfront" is hard because you often don't know what subclasses you'll need until you start coding.</a:t>
            </a:r>
          </a:p>
          <a:p>
            <a:r>
              <a:rPr lang="en-US" dirty="0"/>
              <a:t>"Getting serialization right across subclasses" refers to making sure each product type saves and loads its unique fields correctly (expiry date for perishables, download link for digital).</a:t>
            </a:r>
          </a:p>
          <a:p>
            <a:r>
              <a:rPr lang="en-US" dirty="0"/>
              <a:t>"Testing shapes the design, not just the bugs" is a genuinely important lesson. When code is hard to test, it's usually because the design is tangled.</a:t>
            </a:r>
          </a:p>
          <a:p>
            <a:r>
              <a:rPr lang="en-US" dirty="0"/>
              <a:t>"Git is a collaboration tool, not a save button" nudges against the habit of just committing everything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without branches.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69423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demo using the cli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76175B-8421-41F3-9CFB-7E67C30300BF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5667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566160"/>
            <a:ext cx="12191695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Inventory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0">
                <a:solidFill>
                  <a:srgbClr val="F4A261"/>
                </a:solidFill>
                <a:latin typeface="Calibri"/>
              </a:rPr>
              <a:t>A Command-Line Python Application for Stock &amp; Sales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Project 4  |  Team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Olamide Adeboye  •  Alex Omeje  •  Kunle Fatade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What we'll cover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Project overview &amp; goals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Team &amp; contributions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Key features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System architecture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Object-oriented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Core modules walkthrough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Data persistence &amp; logging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Exception handling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Testing strategy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4A261"/>
                </a:solidFill>
                <a:latin typeface="Calibri"/>
              </a:rPr>
              <a:t>■  </a:t>
            </a:r>
            <a:r>
              <a:rPr sz="2000">
                <a:solidFill>
                  <a:srgbClr val="1F2D3D"/>
                </a:solidFill>
                <a:latin typeface="Calibri"/>
              </a:rPr>
              <a:t>Demo, challenges &amp; learnings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Problem, solution, and tech 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56616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32004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Small businesses need a simple way to track products.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Manual tracking is error-prone and slow.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Need real-time stock levels and sales history.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Reports (low stock, value) must be on-demand.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645920"/>
            <a:ext cx="356616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09160" y="178308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Our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31720"/>
            <a:ext cx="32004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CLI inventory manager built in Python.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Add, sell, restock, and remove products.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Search, low-stock alerts, and reports.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Persistent data via JSON + full logging.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20040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1783080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Tech Stack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331720"/>
            <a:ext cx="283464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Language: Python 3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Paradigm: Object-Oriented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Storage: JSON files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Logging: logging module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Testing: </a:t>
            </a:r>
            <a:r>
              <a:rPr sz="1400" dirty="0" err="1">
                <a:solidFill>
                  <a:srgbClr val="1F2D3D"/>
                </a:solidFill>
                <a:latin typeface="Calibri"/>
              </a:rPr>
              <a:t>unittest</a:t>
            </a:r>
            <a:endParaRPr sz="1400" dirty="0">
              <a:solidFill>
                <a:srgbClr val="1F2D3D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Team &amp; Contributions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Who built what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56616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F4A261"/>
                </a:solidFill>
                <a:latin typeface="Calibri"/>
              </a:rPr>
              <a:t>Olamide Adeboye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95069"/>
            <a:ext cx="3200400" cy="164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Project lead &amp; architecture</a:t>
            </a:r>
            <a:endParaRPr lang="en-US" sz="1400" dirty="0">
              <a:solidFill>
                <a:srgbClr val="1F2D3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 </a:t>
            </a:r>
            <a:r>
              <a:rPr lang="en-GB" sz="1400" dirty="0">
                <a:solidFill>
                  <a:srgbClr val="1F2D3D"/>
                </a:solidFill>
              </a:rPr>
              <a:t>Transaction log module</a:t>
            </a:r>
            <a:endParaRPr lang="en-US" sz="1400" dirty="0">
              <a:solidFill>
                <a:srgbClr val="1F2D3D"/>
              </a:solidFill>
            </a:endParaRPr>
          </a:p>
          <a:p>
            <a:pPr algn="l">
              <a:spcAft>
                <a:spcPts val="400"/>
              </a:spcAft>
            </a:pPr>
            <a:r>
              <a:rPr lang="en-US"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lang="en-US" sz="1400" dirty="0">
                <a:solidFill>
                  <a:srgbClr val="1F2D3D"/>
                </a:solidFill>
                <a:latin typeface="Calibri"/>
              </a:rPr>
              <a:t>Data persistence layer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Git workflow &amp; integration</a:t>
            </a:r>
            <a:endParaRPr lang="en-US" sz="1400" dirty="0">
              <a:solidFill>
                <a:srgbClr val="1F2D3D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 </a:t>
            </a:r>
            <a:r>
              <a:rPr lang="en-GB" sz="1400" dirty="0">
                <a:solidFill>
                  <a:srgbClr val="1F2D3D"/>
                </a:solidFill>
              </a:rPr>
              <a:t>CLI menu</a:t>
            </a:r>
          </a:p>
          <a:p>
            <a:pPr algn="l">
              <a:spcAft>
                <a:spcPts val="400"/>
              </a:spcAft>
            </a:pPr>
            <a:endParaRPr sz="1400" dirty="0">
              <a:solidFill>
                <a:srgbClr val="1F2D3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26280" y="1645920"/>
            <a:ext cx="356616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09160" y="178308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F4A261"/>
                </a:solidFill>
                <a:latin typeface="Calibri"/>
              </a:rPr>
              <a:t>Alex Omeje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31720"/>
            <a:ext cx="3200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 </a:t>
            </a:r>
            <a:r>
              <a:rPr lang="en-GB" sz="1400" dirty="0">
                <a:solidFill>
                  <a:srgbClr val="1F2D3D"/>
                </a:solidFill>
              </a:rPr>
              <a:t>Core Product Class</a:t>
            </a:r>
          </a:p>
          <a:p>
            <a:pPr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</a:t>
            </a:r>
            <a:r>
              <a:rPr lang="en-GB" sz="1400" dirty="0">
                <a:solidFill>
                  <a:srgbClr val="1F2D3D"/>
                </a:solidFill>
              </a:rPr>
              <a:t>Perishable / Digital subclasses</a:t>
            </a:r>
          </a:p>
          <a:p>
            <a:pPr>
              <a:spcAft>
                <a:spcPts val="400"/>
              </a:spcAft>
            </a:pPr>
            <a:endParaRPr lang="en-US" sz="1400" dirty="0">
              <a:solidFill>
                <a:srgbClr val="1F2D3D"/>
              </a:solidFill>
            </a:endParaRPr>
          </a:p>
          <a:p>
            <a:pPr algn="l">
              <a:spcAft>
                <a:spcPts val="400"/>
              </a:spcAft>
            </a:pPr>
            <a:endParaRPr lang="en-GB" sz="1400" dirty="0">
              <a:solidFill>
                <a:srgbClr val="1F2D3D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321040" y="1642479"/>
            <a:ext cx="356616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400"/>
              </a:spcAft>
            </a:pPr>
            <a:endParaRPr lang="en-GB" dirty="0">
              <a:solidFill>
                <a:srgbClr val="1F2D3D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80" y="178308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F4A261"/>
                </a:solidFill>
                <a:latin typeface="Calibri"/>
              </a:rPr>
              <a:t>Kunle Fatade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29000"/>
            <a:ext cx="3200400" cy="841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Custom exceptions &amp; validation</a:t>
            </a:r>
          </a:p>
          <a:p>
            <a:pPr algn="l">
              <a:spcAft>
                <a:spcPts val="400"/>
              </a:spcAft>
            </a:pPr>
            <a:r>
              <a:rPr sz="1400" b="1" dirty="0">
                <a:solidFill>
                  <a:srgbClr val="F4A261"/>
                </a:solidFill>
                <a:latin typeface="Calibri"/>
              </a:rPr>
              <a:t>■  </a:t>
            </a:r>
            <a:r>
              <a:rPr sz="1400" dirty="0">
                <a:solidFill>
                  <a:srgbClr val="1F2D3D"/>
                </a:solidFill>
                <a:latin typeface="Calibri"/>
              </a:rPr>
              <a:t>Test suite (26 tests)</a:t>
            </a:r>
          </a:p>
          <a:p>
            <a:pPr algn="l">
              <a:spcAft>
                <a:spcPts val="400"/>
              </a:spcAft>
            </a:pPr>
            <a:endParaRPr sz="1400" dirty="0">
              <a:solidFill>
                <a:srgbClr val="1F2D3D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B067B0-1A83-32A1-7287-A7621CC7D27C}"/>
              </a:ext>
            </a:extLst>
          </p:cNvPr>
          <p:cNvSpPr txBox="1"/>
          <p:nvPr/>
        </p:nvSpPr>
        <p:spPr>
          <a:xfrm>
            <a:off x="8366760" y="2361808"/>
            <a:ext cx="3200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 </a:t>
            </a:r>
            <a:r>
              <a:rPr lang="en-GB" sz="1400" dirty="0">
                <a:solidFill>
                  <a:srgbClr val="1F2D3D"/>
                </a:solidFill>
              </a:rPr>
              <a:t>Core Inventory Class</a:t>
            </a:r>
          </a:p>
          <a:p>
            <a:pPr>
              <a:spcAft>
                <a:spcPts val="400"/>
              </a:spcAft>
            </a:pPr>
            <a:r>
              <a:rPr lang="en-GB" sz="1400" b="1" dirty="0">
                <a:solidFill>
                  <a:srgbClr val="F4A261"/>
                </a:solidFill>
              </a:rPr>
              <a:t>■  </a:t>
            </a:r>
            <a:r>
              <a:rPr lang="en-GB" sz="1400" dirty="0">
                <a:solidFill>
                  <a:srgbClr val="1F2D3D"/>
                </a:solidFill>
              </a:rPr>
              <a:t>Documentation</a:t>
            </a:r>
          </a:p>
          <a:p>
            <a:pPr>
              <a:spcAft>
                <a:spcPts val="400"/>
              </a:spcAft>
            </a:pPr>
            <a:endParaRPr lang="en-US" sz="1400" dirty="0">
              <a:solidFill>
                <a:srgbClr val="1F2D3D"/>
              </a:solidFill>
            </a:endParaRPr>
          </a:p>
          <a:p>
            <a:pPr algn="l">
              <a:spcAft>
                <a:spcPts val="400"/>
              </a:spcAft>
            </a:pPr>
            <a:endParaRPr lang="en-GB" sz="1400" dirty="0">
              <a:solidFill>
                <a:srgbClr val="1F2D3D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Key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Everything the system can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Add products (standard, perishable, digital)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Sell &amp; restock with validation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Remove products by ID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Search by name or category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Low-stock report (configurable threshold)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Stock value report by category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Stock summary by category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Transaction history with timestamps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Data persistence (JSON auto-save)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4A261"/>
                </a:solidFill>
                <a:latin typeface="Calibri"/>
              </a:rPr>
              <a:t>■  </a:t>
            </a:r>
            <a:r>
              <a:rPr sz="1800">
                <a:solidFill>
                  <a:srgbClr val="1F2D3D"/>
                </a:solidFill>
                <a:latin typeface="Calibri"/>
              </a:rPr>
              <a:t>Console + file logging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Modules and how they interact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main.py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CLI entry point / menu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201168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inventory.py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1460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Inventory manager class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82880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0" y="201168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products.py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51460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Product + subclasses (OOP)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3192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11480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transaction_log.py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61772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Stock movement audit trail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393192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411480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exceptions.py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61772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Custom exception types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3931920"/>
            <a:ext cx="3291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03920" y="411480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data/*.json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617720"/>
            <a:ext cx="292608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Persistent storage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main.py orchestrates the flow  →  Inventory holds Products  →  TransactionLog records every change  →  JSON files persist state.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Object-Oriented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Inheritance &amp; polymorphism in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645920"/>
            <a:ext cx="2834640" cy="914400"/>
          </a:xfrm>
          <a:prstGeom prst="round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1828800"/>
            <a:ext cx="283464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Product (base class)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2834640" cy="91440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8346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03320"/>
            <a:ext cx="28346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Standard stock item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331720" y="2560320"/>
            <a:ext cx="3749040" cy="640080"/>
          </a:xfrm>
          <a:prstGeom prst="line">
            <a:avLst/>
          </a:prstGeom>
          <a:ln w="19050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3200400"/>
            <a:ext cx="2834640" cy="91440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63440" y="3337560"/>
            <a:ext cx="28346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PerishableProduct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703320"/>
            <a:ext cx="28346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Has expiry_date; expires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080760" y="2560320"/>
            <a:ext cx="0" cy="640080"/>
          </a:xfrm>
          <a:prstGeom prst="line">
            <a:avLst/>
          </a:prstGeom>
          <a:ln w="19050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412480" y="3200400"/>
            <a:ext cx="2834640" cy="91440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80" y="3337560"/>
            <a:ext cx="28346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DigitalProduct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03320"/>
            <a:ext cx="28346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Unlimited; download link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080760" y="2560320"/>
            <a:ext cx="3749040" cy="640080"/>
          </a:xfrm>
          <a:prstGeom prst="line">
            <a:avLst/>
          </a:prstGeom>
          <a:ln w="19050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4663440"/>
            <a:ext cx="10424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Encapsulation: validation inside __init__ protects invariants.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Inheritance: subclasses reuse sell(), restock(), to_dict().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Polymorphism: PerishableProduct overrides sell() to check expiry.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Factory method: Product.from_dict() builds the correct subclass.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Product Class 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UML hierarchy: base class and its specialised subclasses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600200"/>
            <a:ext cx="3017520" cy="1920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0" y="1600200"/>
            <a:ext cx="3017520" cy="50292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1752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&lt;&lt; base class &gt;&gt;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801368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19456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Attributes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423160"/>
            <a:ext cx="274320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product_id : str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name : str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price : float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quantity : int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category : str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63440" y="3383280"/>
            <a:ext cx="2834640" cy="0"/>
          </a:xfrm>
          <a:prstGeom prst="line">
            <a:avLst/>
          </a:prstGeom>
          <a:ln w="9525">
            <a:solidFill>
              <a:srgbClr val="D0D5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09160" y="347472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Methods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703320"/>
            <a:ext cx="2743200" cy="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sell(qty)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restock(qty)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to_dict()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from_dict(data)  [classmethod]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60520"/>
            <a:ext cx="3383280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4160520"/>
            <a:ext cx="3383280" cy="5029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4206240"/>
            <a:ext cx="338328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&lt;&lt; standard product &gt;&gt;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61688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54880"/>
            <a:ext cx="31089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Attributes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83480"/>
            <a:ext cx="310896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(inherits all)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" y="5212080"/>
            <a:ext cx="3200400" cy="0"/>
          </a:xfrm>
          <a:prstGeom prst="line">
            <a:avLst/>
          </a:prstGeom>
          <a:ln w="9525">
            <a:solidFill>
              <a:srgbClr val="D0D5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5303520"/>
            <a:ext cx="31089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Methods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532120"/>
            <a:ext cx="3108960" cy="9144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(uses base sell / restock)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type in JSON: "standard"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4160520"/>
            <a:ext cx="3383280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389120" y="4160520"/>
            <a:ext cx="3383280" cy="5029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4206240"/>
            <a:ext cx="338328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&lt;&lt; subclass &gt;&gt;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361688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PerishableProduct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754880"/>
            <a:ext cx="31089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Attributes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983480"/>
            <a:ext cx="310896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expiry_date : str  (YYYY-MM-DD)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480560" y="5212080"/>
            <a:ext cx="3200400" cy="0"/>
          </a:xfrm>
          <a:prstGeom prst="line">
            <a:avLst/>
          </a:prstGeom>
          <a:ln w="9525">
            <a:solidFill>
              <a:srgbClr val="D0D5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26280" y="5303520"/>
            <a:ext cx="31089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Methods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5532120"/>
            <a:ext cx="3108960" cy="9144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is_expired()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sell(qty)  [override]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to_dict()  [override]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type in JSON: "perishable"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75320" y="4160520"/>
            <a:ext cx="3383280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275320" y="4160520"/>
            <a:ext cx="3383280" cy="5029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75320" y="4206240"/>
            <a:ext cx="338328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&lt;&lt; subclass &gt;&gt;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4361688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DigitalProduct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754880"/>
            <a:ext cx="31089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Attributes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983480"/>
            <a:ext cx="310896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download_link : str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quantity = 0  (unlimited)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366760" y="5394960"/>
            <a:ext cx="3200400" cy="0"/>
          </a:xfrm>
          <a:prstGeom prst="line">
            <a:avLst/>
          </a:prstGeom>
          <a:ln w="9525">
            <a:solidFill>
              <a:srgbClr val="D0D5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5486400"/>
            <a:ext cx="31089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715000"/>
            <a:ext cx="310896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sell(qty=1)  [override]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get_download_link()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to_dict()  [override]</a:t>
            </a:r>
          </a:p>
          <a:p>
            <a:pPr algn="l"/>
            <a:r>
              <a:rPr sz="1000" b="0">
                <a:solidFill>
                  <a:srgbClr val="1F2D3D"/>
                </a:solidFill>
                <a:latin typeface="Consolas"/>
              </a:rPr>
              <a:t>+ type in JSON: "digital"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0" y="3886200"/>
            <a:ext cx="0" cy="0"/>
          </a:xfrm>
          <a:prstGeom prst="line">
            <a:avLst/>
          </a:prstGeom>
          <a:ln w="22225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0" y="3520440"/>
            <a:ext cx="0" cy="365760"/>
          </a:xfrm>
          <a:prstGeom prst="line">
            <a:avLst/>
          </a:prstGeom>
          <a:ln w="22225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0" y="3886200"/>
            <a:ext cx="0" cy="274320"/>
          </a:xfrm>
          <a:prstGeom prst="line">
            <a:avLst/>
          </a:prstGeom>
          <a:ln w="22225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0" y="3886200"/>
            <a:ext cx="0" cy="274320"/>
          </a:xfrm>
          <a:prstGeom prst="line">
            <a:avLst/>
          </a:prstGeom>
          <a:ln w="22225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0" y="3886200"/>
            <a:ext cx="0" cy="274320"/>
          </a:xfrm>
          <a:prstGeom prst="line">
            <a:avLst/>
          </a:prstGeom>
          <a:ln w="22225">
            <a:solidFill>
              <a:srgbClr val="0E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658368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All subclasses inherit from Product. from_dict() acts as a factory: it reads "type" and returns the correct subclass.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Inventory Class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The heart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Stores products in a dict keyed by product_id.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add_product / remove_product / find_product.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sell_product &amp; restock_product update stock atomically.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search() matches name substring or exact category.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low_stock_report() uses a generator (memory efficient).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stock_summary() &amp; stock_value_report() by category.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Auto-saves to JSON on every mutation.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45920"/>
            <a:ext cx="5029200" cy="4572000"/>
          </a:xfrm>
          <a:prstGeom prst="round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6E9EF"/>
                </a:solidFill>
                <a:latin typeface="Consolas"/>
              </a:rPr>
              <a:t>def low_stock_report(self):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   for product in self.products.values():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       if (not isinstance(product, DigitalProduct)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               and product.quantity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               &lt; self.low_stock_threshold):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           yield product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E6E9EF"/>
                </a:solidFill>
                <a:latin typeface="Consolas"/>
              </a:rPr>
              <a:t># generator -&gt; lazy, works on large inventories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Transaction 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Every stock movement, timestamped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Records add / sell / restock / remove events.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Each entry stores timestamp, action, product, qty.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Auto-saves to data/log.json after each record.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summary() prints full history or filters by product.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Supports auditing and future analytics.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45920"/>
            <a:ext cx="5029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1783080"/>
            <a:ext cx="46634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0E3B66"/>
                </a:solidFill>
                <a:latin typeface="Calibri"/>
              </a:rPr>
              <a:t>Example log entry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663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2D3D"/>
                </a:solidFill>
                <a:latin typeface="Consolas"/>
              </a:rPr>
              <a:t>{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"timestamp": "2026-04-23T14:02:11",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"action":    "sale",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"product_id":   "P001",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"product_name": "Milk",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"quantity":  3,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  "details":   "Product sold"</a:t>
            </a:r>
          </a:p>
          <a:p>
            <a:r>
              <a:rPr sz="130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Exceptions &amp; Logging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Defensive programming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394960" cy="4389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Custom Exceptions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50292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OutOfStockError - not enough units to sell.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InvalidProductError - invalid data or missing ID.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DuplicateProductError - product ID collision.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Caught centrally in main.py for clean UX.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Validation lives in __init__ - fail fast.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45920"/>
            <a:ext cx="5394960" cy="4389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78308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Logging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331720"/>
            <a:ext cx="50292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Single named logger: 'InventoryManager'.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Console handler: INFO and above.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File handler (logs/inventory.log): DEBUG and above.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Every add / sell / restock is logged.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Warnings for low stock and corrupted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Data Persistence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JSON-backed 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Two JSON files: inventory.json and log.json.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save_data() writes after every mutation.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load_data() rebuilds objects via from_dict().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Factory method returns correct subclass.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Corrupted entries are skipped with a warning.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Graceful fallback if the file is missing.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0E3B66"/>
                </a:solidFill>
                <a:latin typeface="Calibri"/>
              </a:rPr>
              <a:t>Serialization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286000"/>
            <a:ext cx="1554480" cy="914400"/>
          </a:xfrm>
          <a:prstGeom prst="roundRect">
            <a:avLst/>
          </a:prstGeom>
          <a:solidFill>
            <a:srgbClr val="0E3B66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56032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Python Objects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514600"/>
            <a:ext cx="1554480" cy="9144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0" y="278892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1F2D3D"/>
                </a:solidFill>
                <a:latin typeface="Calibri"/>
              </a:rPr>
              <a:t>to_dict() 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2286000"/>
            <a:ext cx="1554480" cy="914400"/>
          </a:xfrm>
          <a:prstGeom prst="roundRect">
            <a:avLst/>
          </a:prstGeom>
          <a:solidFill>
            <a:srgbClr val="0E3B66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0" y="256032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JSON File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3931920"/>
            <a:ext cx="1554480" cy="914400"/>
          </a:xfrm>
          <a:prstGeom prst="roundRect">
            <a:avLst/>
          </a:prstGeom>
          <a:solidFill>
            <a:srgbClr val="0E3B66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420624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Python Objects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4160520"/>
            <a:ext cx="1554480" cy="9144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443484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1F2D3D"/>
                </a:solidFill>
                <a:latin typeface="Calibri"/>
              </a:rPr>
              <a:t>← from_dict()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931920"/>
            <a:ext cx="1554480" cy="914400"/>
          </a:xfrm>
          <a:prstGeom prst="roundRect">
            <a:avLst/>
          </a:prstGeom>
          <a:solidFill>
            <a:srgbClr val="0E3B66"/>
          </a:solidFill>
          <a:ln w="12700">
            <a:solidFill>
              <a:srgbClr val="0E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80" y="4206240"/>
            <a:ext cx="1554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JSON 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CLI Walkthrough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11-option menu, one main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4572000"/>
          </a:xfrm>
          <a:prstGeom prst="round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A7F3D0"/>
                </a:solidFill>
                <a:latin typeface="Consolas"/>
              </a:rPr>
              <a:t>==================================================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   Inventory Management System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==================================================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1.  Add a new product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2.  View all products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3.  Search products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4.  Sell a product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5.  Restock a product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6.  Remove a product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7.  Low stock report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8.  Stock value report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9.  Stock summary by category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10. Transaction history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11. Save and exit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==================================================</a:t>
            </a:r>
          </a:p>
          <a:p>
            <a:r>
              <a:rPr sz="1400">
                <a:solidFill>
                  <a:srgbClr val="A7F3D0"/>
                </a:solidFill>
                <a:latin typeface="Consolas"/>
              </a:rPr>
              <a:t>Enter your choice (1-11): 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Test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26 unit tests across 4 test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TestProduct: validation, sell, restock, to/from dict.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TestPerishable: expiry checks, invalid formats.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TestDigital: download link, no stock decrement.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TestInventory: add, search, reports, save/load.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TestTransactionLog: record and persistence.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Run: python -m unittest discover tests -v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645920"/>
            <a:ext cx="1508760" cy="2103120"/>
          </a:xfrm>
          <a:prstGeom prst="round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150876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834640"/>
            <a:ext cx="1508760" cy="8229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1645920"/>
            <a:ext cx="1508760" cy="2103120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150876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834640"/>
            <a:ext cx="1508760" cy="8229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Test classes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1645920"/>
            <a:ext cx="1508760" cy="2103120"/>
          </a:xfrm>
          <a:prstGeom prst="round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0" y="1828800"/>
            <a:ext cx="150876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5+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834640"/>
            <a:ext cx="1508760" cy="8229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Modules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covered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931920"/>
            <a:ext cx="49377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0" y="4069080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3B66"/>
                </a:solidFill>
                <a:latin typeface="Calibri"/>
              </a:rPr>
              <a:t>Coverage Highlights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617720"/>
            <a:ext cx="4572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4A261"/>
                </a:solidFill>
                <a:latin typeface="Calibri"/>
              </a:rPr>
              <a:t>■  </a:t>
            </a:r>
            <a:r>
              <a:rPr sz="1300">
                <a:solidFill>
                  <a:srgbClr val="1F2D3D"/>
                </a:solidFill>
                <a:latin typeface="Calibri"/>
              </a:rPr>
              <a:t>All three product types exercised.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4A261"/>
                </a:solidFill>
                <a:latin typeface="Calibri"/>
              </a:rPr>
              <a:t>■  </a:t>
            </a:r>
            <a:r>
              <a:rPr sz="1300">
                <a:solidFill>
                  <a:srgbClr val="1F2D3D"/>
                </a:solidFill>
                <a:latin typeface="Calibri"/>
              </a:rPr>
              <a:t>Happy paths AND exception paths.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4A261"/>
                </a:solidFill>
                <a:latin typeface="Calibri"/>
              </a:rPr>
              <a:t>■  </a:t>
            </a:r>
            <a:r>
              <a:rPr sz="1300">
                <a:solidFill>
                  <a:srgbClr val="1F2D3D"/>
                </a:solidFill>
                <a:latin typeface="Calibri"/>
              </a:rPr>
              <a:t>Persistence round-trip verified.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Challenges &amp; Learnings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What we took away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394960" cy="4389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50292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Designing a clean class hierarchy upfront.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Getting serialization right across subclasses.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Handling corrupted / partial JSON gracefully.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Coordinating Git branches across the team.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Choosing between exceptions and return codes.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45920"/>
            <a:ext cx="5394960" cy="4389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78308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0E3B66"/>
                </a:solidFill>
                <a:latin typeface="Calibri"/>
              </a:rPr>
              <a:t>What We Learned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331720"/>
            <a:ext cx="50292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OOP: inheritance, polymorphism, factory methods.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Testing shapes the design, not just the bugs.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Logging is documentation for future-you.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Small modules are easier to reason about.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4A261"/>
                </a:solidFill>
                <a:latin typeface="Calibri"/>
              </a:rPr>
              <a:t>■  </a:t>
            </a:r>
            <a:r>
              <a:rPr sz="1400">
                <a:solidFill>
                  <a:srgbClr val="1F2D3D"/>
                </a:solidFill>
                <a:latin typeface="Calibri"/>
              </a:rPr>
              <a:t>Git is a collaboration tool, not a save button.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200" b="1">
                <a:solidFill>
                  <a:srgbClr val="0E3B66"/>
                </a:solidFill>
                <a:latin typeface="Calibri"/>
              </a:rPr>
              <a:t>How to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051560"/>
            <a:ext cx="1097280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Get started in two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2286000"/>
          </a:xfrm>
          <a:prstGeom prst="round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A7F3D0"/>
                </a:solidFill>
                <a:latin typeface="Consolas"/>
              </a:rPr>
              <a:t>$ python main.py              # launch the application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A7F3D0"/>
                </a:solidFill>
                <a:latin typeface="Consolas"/>
              </a:rPr>
              <a:t>$ python -m unittest discover tests -v   # run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Python 3.x only - no external runtime dependencies required.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First run creates data/ and logs/ folders automatically.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F4A261"/>
                </a:solidFill>
                <a:latin typeface="Calibri"/>
              </a:rPr>
              <a:t>■  </a:t>
            </a:r>
            <a:r>
              <a:rPr sz="1600">
                <a:solidFill>
                  <a:srgbClr val="1F2D3D"/>
                </a:solidFill>
                <a:latin typeface="Calibri"/>
              </a:rPr>
              <a:t>Choose option 11 from the menu to save and exit safely.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Inventory Management System  |  Project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566160"/>
            <a:ext cx="12191695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7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400" b="0">
                <a:solidFill>
                  <a:srgbClr val="F4A261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Olamide Adeboye  •  Alex Omeje  •  Kunle Fatade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3421</Words>
  <Application>Microsoft Office PowerPoint</Application>
  <PresentationFormat>Widescreen</PresentationFormat>
  <Paragraphs>363</Paragraphs>
  <Slides>17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Olamide Adeboye</dc:creator>
  <cp:keywords/>
  <dc:description>generated using python-pptx</dc:description>
  <cp:lastModifiedBy>Olamide Adeboye</cp:lastModifiedBy>
  <cp:revision>2</cp:revision>
  <dcterms:created xsi:type="dcterms:W3CDTF">2013-01-27T09:14:16Z</dcterms:created>
  <dcterms:modified xsi:type="dcterms:W3CDTF">2026-04-24T16:55:30Z</dcterms:modified>
  <cp:category/>
</cp:coreProperties>
</file>